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c5b2d7b1a7849b4" /><Relationship Type="http://schemas.openxmlformats.org/officeDocument/2006/relationships/extended-properties" Target="/docProps/app.xml" Id="R4ffe72e16ac24c95" /><Relationship Type="http://schemas.openxmlformats.org/officeDocument/2006/relationships/officeDocument" Target="/ppt/presentation.xml" Id="R320b47775c03408c" /></Relationships>
</file>

<file path=ppt/presentation.xml><?xml version="1.0" encoding="utf-8"?>
<p:presentation xmlns:p="http://schemas.openxmlformats.org/presentationml/2006/main">
  <p:sldMasterIdLst>
    <p:sldMasterId xmlns:r="http://schemas.openxmlformats.org/officeDocument/2006/relationships" id="2147483648" r:id="R39930c1d4e734b25"/>
  </p:sldMasterIdLst>
  <p:notesMasterIdLst>
    <p:notesMasterId xmlns:r="http://schemas.openxmlformats.org/officeDocument/2006/relationships" r:id="R4ab56309349b4f9b"/>
  </p:notesMasterIdLst>
  <p:sldIdLst>
    <p:sldId xmlns:r="http://schemas.openxmlformats.org/officeDocument/2006/relationships" id="256" r:id="R3d6dcc3555e34819"/>
    <p:sldId xmlns:r="http://schemas.openxmlformats.org/officeDocument/2006/relationships" id="257" r:id="R8bf1ccd4b66a4254"/>
    <p:sldId xmlns:r="http://schemas.openxmlformats.org/officeDocument/2006/relationships" id="258" r:id="Rc893502c4779404b"/>
    <p:sldId xmlns:r="http://schemas.openxmlformats.org/officeDocument/2006/relationships" id="259" r:id="Rbfebf9fb8a8c4131"/>
    <p:sldId xmlns:r="http://schemas.openxmlformats.org/officeDocument/2006/relationships" id="260" r:id="Rbe6ffbecb26c4684"/>
    <p:sldId xmlns:r="http://schemas.openxmlformats.org/officeDocument/2006/relationships" id="261" r:id="Rc947a64121744fa2"/>
    <p:sldId xmlns:r="http://schemas.openxmlformats.org/officeDocument/2006/relationships" id="262" r:id="R019606b8babd4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122ee5fe914e5f" /><Relationship Type="http://schemas.openxmlformats.org/officeDocument/2006/relationships/slideMaster" Target="/ppt/slideMasters/slideMaster1.xml" Id="R39930c1d4e734b25" /><Relationship Type="http://schemas.openxmlformats.org/officeDocument/2006/relationships/notesMaster" Target="/ppt/notesMasters/notesMaster1.xml" Id="R4ab56309349b4f9b" /><Relationship Type="http://schemas.openxmlformats.org/officeDocument/2006/relationships/presProps" Target="/ppt/presProps.xml" Id="Ree84f9ed7aa64767" /><Relationship Type="http://schemas.openxmlformats.org/officeDocument/2006/relationships/tableStyles" Target="/ppt/tableStyles.xml" Id="R0aae7a6bd2f644d6" /><Relationship Type="http://schemas.openxmlformats.org/officeDocument/2006/relationships/slide" Target="/ppt/slides/slide1.xml" Id="R3d6dcc3555e34819" /><Relationship Type="http://schemas.openxmlformats.org/officeDocument/2006/relationships/slide" Target="/ppt/slides/slide2.xml" Id="R8bf1ccd4b66a4254" /><Relationship Type="http://schemas.openxmlformats.org/officeDocument/2006/relationships/slide" Target="/ppt/slides/slide3.xml" Id="Rc893502c4779404b" /><Relationship Type="http://schemas.openxmlformats.org/officeDocument/2006/relationships/slide" Target="/ppt/slides/slide4.xml" Id="Rbfebf9fb8a8c4131" /><Relationship Type="http://schemas.openxmlformats.org/officeDocument/2006/relationships/slide" Target="/ppt/slides/slide5.xml" Id="Rbe6ffbecb26c4684" /><Relationship Type="http://schemas.openxmlformats.org/officeDocument/2006/relationships/slide" Target="/ppt/slides/slide6.xml" Id="Rc947a64121744fa2" /><Relationship Type="http://schemas.openxmlformats.org/officeDocument/2006/relationships/slide" Target="/ppt/slides/slide7.xml" Id="R019606b8babd4d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0c1140e4284c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8b6a12c6bb4bb4" /><Relationship Type="http://schemas.openxmlformats.org/officeDocument/2006/relationships/notesMaster" Target="/ppt/notesMasters/notesMaster1.xml" Id="R9fa264480b4149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cb050011fd47c1" /><Relationship Type="http://schemas.openxmlformats.org/officeDocument/2006/relationships/notesMaster" Target="/ppt/notesMasters/notesMaster1.xml" Id="Rbbcfe3fdc9b54c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be264488ca45be" /><Relationship Type="http://schemas.openxmlformats.org/officeDocument/2006/relationships/notesMaster" Target="/ppt/notesMasters/notesMaster1.xml" Id="Ra7f254731d2247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55b28a2b334ea4" /><Relationship Type="http://schemas.openxmlformats.org/officeDocument/2006/relationships/notesMaster" Target="/ppt/notesMasters/notesMaster1.xml" Id="Re0e46a6a5dc54a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1761ef11e94029" /><Relationship Type="http://schemas.openxmlformats.org/officeDocument/2006/relationships/notesMaster" Target="/ppt/notesMasters/notesMaster1.xml" Id="Ra30b3f0c290a4b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f701a501d54688" /><Relationship Type="http://schemas.openxmlformats.org/officeDocument/2006/relationships/notesMaster" Target="/ppt/notesMasters/notesMaster1.xml" Id="Rf2de54c5c1df4c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f9e59a4df744d1" /><Relationship Type="http://schemas.openxmlformats.org/officeDocument/2006/relationships/notesMaster" Target="/ppt/notesMasters/notesMaster1.xml" Id="Rd03bac21a03049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I’m Jason. My project is called AI Scroll. It is an academic email agent for students who receive deadlines, extensions and course updates across many messages. The system reads selected course emails, keeps the original evidence, merges related updates and prepares a practical study plan. It can then create calendar proposals, but only after the student reviews and approves them. In this presentation, I will explain the problem, the Agent design, the tools I built, and the current working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problem is not a lack of email. It is the effort required to turn several messages into one reliable decision. A deadline can appear in different formats, and a later message may extend or cancel it. Students also receive reminders, newsletters and platform notifications that look important but do not create a real deadline. If the user manually copies every date, errors are easy. If an Agent writes to a calendar automatically, the risk is even higher. So the product must understand the message chain and preserve evidence before it takes any external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Scroll follows six steps. First, a mailbox connector reads new messages. Second, a course scope filter removes unrelated mail before any model call. Third, the extraction layer identifies the task, deadline and exact evidence sentence. Fourth, the merge engine combines related emails and keeps the latest valid state. Fifth, the planner works backwards from the verified deadline to create manageable sessions. Finally, the approval gate shows the proposal to the student. The Agent prepares the plan, but the student owns the final calendar action. This separation is important for both safety and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uses a simple ReAct style loop: observe, reason and act. The Agent observes new messages and the existing timeline. It reasons about which tools are needed and whether a message is new, related or irrelevant. It then acts by preparing a timeline item or a calendar proposal, before stopping for review. The main tools read the mailbox, filter course messages, extract structured JSON, match and merge related threads, and enforce the calendar approval gate. I use GPT 5 Mini through OpenRouter for language understanding. Deterministic rules still validate dates, calculate urgency, remove duplicates and block unsafe 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chose a hybrid architecture because the two parts of the problem need different strengths. The language model handles varied academic language, extracts evidence and interprets whether a message is a new task or an update. The application code handles the parts that must remain predictable: date validation, Singapore time, urgency thresholds, thread history, deduplication and approval. I built the workflow, merge logic, evaluation and safety controls. I rent the language model and the external mailbox and calendar APIs. This reduces development time while keeping the important project logic visible and testable.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current product experience. The left side behaves like an academic inbox. The middle panel keeps the selected email visible, including the exact sentence that created or changed the deadline. The right panel turns the message into a five step action plan. It shows the final deadline, the planned stages and the evidence used by the Agent. The scan button refreshes the interface using the actual mailbox pipeline. Settings stay in a collapsed sidebar, so the main screen remains simple. The user then opens Calendar Review, checks the proposal and confirms it. Without that confirmation, the system performs no calendar write.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shows that the pipeline improves on a simple keyword and date baseline, especially for calendar actions and cross email merging. These comparison numbers still use draft labels, so I will not present them as the final assessment result until the 50 labels are reviewed and frozen. The completed live model check passed all six web derived edge cases, the code passes 47 automated tests, and the six case live run cost about 1.1 cents. The next steps are to freeze the labels, run the final evaluation and record the live demo. AI Scroll shows how an Agent can reduce email overload while keeping the student in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9df14b3d184a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cee5136c144f5f" /><Relationship Type="http://schemas.openxmlformats.org/officeDocument/2006/relationships/slideLayout" Target="/ppt/slideLayouts/slideLayout1.xml" Id="R507d4e4f55ac40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7d4e4f55ac40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7c7b7cf6c04d4f" /><Relationship Type="http://schemas.openxmlformats.org/officeDocument/2006/relationships/image" Target="/ppt/media/image.png" Id="R761176b7e017490b" /><Relationship Type="http://schemas.openxmlformats.org/officeDocument/2006/relationships/notesSlide" Target="/ppt/notesSlides/notesSlide1.xml" Id="Rbd7d9bdbef1c4a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faa43c28df4684" /><Relationship Type="http://schemas.openxmlformats.org/officeDocument/2006/relationships/notesSlide" Target="/ppt/notesSlides/notesSlide2.xml" Id="Rc5edf85e02cb45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1534e847de4cce" /><Relationship Type="http://schemas.openxmlformats.org/officeDocument/2006/relationships/notesSlide" Target="/ppt/notesSlides/notesSlide3.xml" Id="R814f0b91650445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3633e1e6414d07" /><Relationship Type="http://schemas.openxmlformats.org/officeDocument/2006/relationships/notesSlide" Target="/ppt/notesSlides/notesSlide4.xml" Id="Rf4d859f6e10d4a6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80f010caf041a6" /><Relationship Type="http://schemas.openxmlformats.org/officeDocument/2006/relationships/notesSlide" Target="/ppt/notesSlides/notesSlide5.xml" Id="R842bb2da0c1d40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b5c61b55f145ea" /><Relationship Type="http://schemas.openxmlformats.org/officeDocument/2006/relationships/image" Target="/ppt/media/image2.png" Id="R80fe31b6c2e24c56" /><Relationship Type="http://schemas.openxmlformats.org/officeDocument/2006/relationships/notesSlide" Target="/ppt/notesSlides/notesSlide6.xml" Id="Ra10aca84facd48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65841b4a445404a" /><Relationship Type="http://schemas.openxmlformats.org/officeDocument/2006/relationships/chart" Target="/ppt/slides/charts/chart1.xml" Id="Ra21082a75c6943b9" /><Relationship Type="http://schemas.openxmlformats.org/officeDocument/2006/relationships/notesSlide" Target="/ppt/notesSlides/notesSlide7.xml" Id="Rebf716e9af5343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Keyword baseline</c:v>
          </c:tx>
          <c:spPr>
            <a:solidFill xmlns:a="http://schemas.openxmlformats.org/drawingml/2006/main">
              <a:srgbClr val="B7C4D1"/>
            </a:solidFill>
          </c:spPr>
          <c:cat>
            <c:strRef>
              <c:f>'Chart Data'!$A$2:$A$6</c:f>
              <c:strCache>
                <c:ptCount val="5"/>
                <c:pt idx="0">
                  <c:v>Task type</c:v>
                </c:pt>
                <c:pt idx="1">
                  <c:v>Exact deadline</c:v>
                </c:pt>
                <c:pt idx="2">
                  <c:v>Urgency</c:v>
                </c:pt>
                <c:pt idx="3">
                  <c:v>Calendar action</c:v>
                </c:pt>
                <c:pt idx="4">
                  <c:v>Cross-email merge</c:v>
                </c:pt>
              </c:strCache>
            </c:strRef>
          </c:cat>
          <c:val>
            <c:numRef>
              <c:f>'Chart Data'!$B$2:$B$6</c:f>
              <c:numCache>
                <c:formatCode>General</c:formatCode>
                <c:ptCount val="5"/>
                <c:pt idx="0">
                  <c:v>56</c:v>
                </c:pt>
                <c:pt idx="1">
                  <c:v>74.4</c:v>
                </c:pt>
                <c:pt idx="2">
                  <c:v>82</c:v>
                </c:pt>
                <c:pt idx="3">
                  <c:v>56</c:v>
                </c:pt>
                <c:pt idx="4">
                  <c:v>0</c:v>
                </c:pt>
              </c:numCache>
            </c:numRef>
          </c:val>
        </c:ser>
        <c:ser>
          <c:idx val="1"/>
          <c:order val="1"/>
          <c:tx>
            <c:v>Current pipeline</c:v>
          </c:tx>
          <c:spPr>
            <a:solidFill xmlns:a="http://schemas.openxmlformats.org/drawingml/2006/main">
              <a:srgbClr val="109B92"/>
            </a:solidFill>
          </c:spPr>
          <c:cat>
            <c:strRef>
              <c:f>'Chart Data'!$C$2:$C$6</c:f>
              <c:strCache>
                <c:ptCount val="5"/>
                <c:pt idx="0">
                  <c:v>Task type</c:v>
                </c:pt>
                <c:pt idx="1">
                  <c:v>Exact deadline</c:v>
                </c:pt>
                <c:pt idx="2">
                  <c:v>Urgency</c:v>
                </c:pt>
                <c:pt idx="3">
                  <c:v>Calendar action</c:v>
                </c:pt>
                <c:pt idx="4">
                  <c:v>Cross-email merge</c:v>
                </c:pt>
              </c:strCache>
            </c:strRef>
          </c:cat>
          <c:val>
            <c:numRef>
              <c:f>'Chart Data'!$D$2:$D$6</c:f>
              <c:numCache>
                <c:formatCode>General</c:formatCode>
                <c:ptCount val="5"/>
                <c:pt idx="0">
                  <c:v>86</c:v>
                </c:pt>
                <c:pt idx="1">
                  <c:v>93</c:v>
                </c:pt>
                <c:pt idx="2">
                  <c:v>96</c:v>
                </c:pt>
                <c:pt idx="3">
                  <c:v>90</c:v>
                </c:pt>
                <c:pt idx="4">
                  <c:v>100</c:v>
                </c:pt>
              </c:numCache>
            </c:numRef>
          </c:val>
        </c:ser>
        <c:dLbls>
          <c:txPr>
            <a:bodyPr xmlns:a="http://schemas.openxmlformats.org/drawingml/2006/main" anchorCtr="1"/>
            <a:lstStyle xmlns:a="http://schemas.openxmlformats.org/drawingml/2006/main"/>
            <a:p xmlns:a="http://schemas.openxmlformats.org/drawingml/2006/main">
              <a:pPr>
                <a:defRPr sz="825" b="1">
                  <a:solidFill>
                    <a:srgbClr val="132B45"/>
                  </a:solidFill>
                  <a:latin typeface="Arial"/>
                  <a:ea typeface="Arial"/>
                  <a:cs typeface="Aria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DCE6EE"/>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6788D"/>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132B45"/>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66788D"/>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9525">
      <a:solidFill>
        <a:srgbClr val="DCE6EE"/>
      </a:solid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61176b7e017490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C900E5-74C3-4499-BB61-8848298E4A2E}"/>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061B31"/>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4FF72D5-0E83-44BE-8ED4-AB36CF384054}"/>
              </a:ext>
            </a:extLst>
          </p:cNvPr>
          <p:cNvSpPr>
            <a:spLocks xmlns:a="http://schemas.openxmlformats.org/drawingml/2006/main" noGrp="1"/>
          </p:cNvSpPr>
          <p:nvPr/>
        </p:nvSpPr>
        <p:spPr>
          <a:xfrm xmlns:a="http://schemas.openxmlformats.org/drawingml/2006/main">
            <a:off x="666750" y="114300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4425" b="1">
                <a:solidFill>
                  <a:srgbClr val="FFFFFF"/>
                </a:solidFill>
                <a:latin typeface="Arial"/>
                <a:ea typeface="Arial"/>
                <a:cs typeface="Arial"/>
              </a:defRPr>
            </a:pPr>
            <a:r>
              <a:rPr sz="4425" b="1">
                <a:solidFill>
                  <a:srgbClr val="FFFFFF"/>
                </a:solidFill>
                <a:latin typeface="Arial"/>
                <a:ea typeface="Arial"/>
                <a:cs typeface="Arial"/>
              </a:rPr>
              <a:t>AI Scroll</a:t>
            </a:r>
          </a:p>
        </p:txBody>
      </p:sp>
      <p:sp>
        <p:nvSpPr>
          <p:cNvPr id="4" name="">
            <a:extLst xmlns:a="http://schemas.openxmlformats.org/drawingml/2006/main">
              <a:ext uri="{FF2B5EF4-FFF2-40B4-BE49-F238E27FC236}">
                <a16:creationId xmlns:a16="http://schemas.microsoft.com/office/drawing/2014/main" id="{91E8A334-CF12-4366-8EDD-C20BA99FA426}"/>
              </a:ext>
            </a:extLst>
          </p:cNvPr>
          <p:cNvSpPr>
            <a:spLocks xmlns:a="http://schemas.openxmlformats.org/drawingml/2006/main" noGrp="1"/>
          </p:cNvSpPr>
          <p:nvPr/>
        </p:nvSpPr>
        <p:spPr>
          <a:xfrm xmlns:a="http://schemas.openxmlformats.org/drawingml/2006/main">
            <a:off x="704850" y="2143125"/>
            <a:ext cx="419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75" b="0">
                <a:solidFill>
                  <a:srgbClr val="DDEBF4"/>
                </a:solidFill>
                <a:latin typeface="Arial"/>
                <a:ea typeface="Arial"/>
                <a:cs typeface="Arial"/>
              </a:defRPr>
            </a:pPr>
            <a:r>
              <a:rPr sz="1875" b="0">
                <a:solidFill>
                  <a:srgbClr val="DDEBF4"/>
                </a:solidFill>
                <a:latin typeface="Arial"/>
                <a:ea typeface="Arial"/>
                <a:cs typeface="Arial"/>
              </a:rPr>
              <a:t>An academic email agent that turns course messages into a verified plan</a:t>
            </a:r>
          </a:p>
        </p:txBody>
      </p:sp>
      <p:sp>
        <p:nvSpPr>
          <p:cNvPr id="5" name="">
            <a:extLst xmlns:a="http://schemas.openxmlformats.org/drawingml/2006/main">
              <a:ext uri="{FF2B5EF4-FFF2-40B4-BE49-F238E27FC236}">
                <a16:creationId xmlns:a16="http://schemas.microsoft.com/office/drawing/2014/main" id="{D05B9729-D2B8-43BD-BB5F-1930ADF89AD3}"/>
              </a:ext>
            </a:extLst>
          </p:cNvPr>
          <p:cNvSpPr>
            <a:spLocks xmlns:a="http://schemas.openxmlformats.org/drawingml/2006/main" noGrp="1"/>
          </p:cNvSpPr>
          <p:nvPr/>
        </p:nvSpPr>
        <p:spPr>
          <a:xfrm xmlns:a="http://schemas.openxmlformats.org/drawingml/2006/main">
            <a:off x="704850" y="3562350"/>
            <a:ext cx="685800" cy="47625"/>
          </a:xfrm>
          <a:prstGeom xmlns:a="http://schemas.openxmlformats.org/drawingml/2006/main" prst="rect">
            <a:avLst/>
          </a:prstGeom>
          <a:solidFill xmlns:a="http://schemas.openxmlformats.org/drawingml/2006/main">
            <a:srgbClr val="45D6C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73FEFDB-5E1F-4559-8B15-BBD5A5CA79E8}"/>
              </a:ext>
            </a:extLst>
          </p:cNvPr>
          <p:cNvSpPr>
            <a:spLocks xmlns:a="http://schemas.openxmlformats.org/drawingml/2006/main" noGrp="1"/>
          </p:cNvSpPr>
          <p:nvPr/>
        </p:nvSpPr>
        <p:spPr>
          <a:xfrm xmlns:a="http://schemas.openxmlformats.org/drawingml/2006/main">
            <a:off x="704850" y="3857625"/>
            <a:ext cx="323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Jason Wang Chen Yu</a:t>
            </a:r>
          </a:p>
          <a:p xmlns:a="http://schemas.openxmlformats.org/drawingml/2006/main">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PE6201 Course Project</a:t>
            </a:r>
          </a:p>
        </p:txBody>
      </p:sp>
      <p:sp>
        <p:nvSpPr>
          <p:cNvPr id="7" name="">
            <a:extLst xmlns:a="http://schemas.openxmlformats.org/drawingml/2006/main">
              <a:ext uri="{FF2B5EF4-FFF2-40B4-BE49-F238E27FC236}">
                <a16:creationId xmlns:a16="http://schemas.microsoft.com/office/drawing/2014/main" id="{1927D707-305D-4A54-A7B1-2BAEC17E6D6A}"/>
              </a:ext>
            </a:extLst>
          </p:cNvPr>
          <p:cNvSpPr>
            <a:spLocks xmlns:a="http://schemas.openxmlformats.org/drawingml/2006/main" noGrp="1"/>
          </p:cNvSpPr>
          <p:nvPr/>
        </p:nvSpPr>
        <p:spPr>
          <a:xfrm xmlns:a="http://schemas.openxmlformats.org/drawingml/2006/main">
            <a:off x="704850" y="590550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8FDCD1"/>
                </a:solidFill>
                <a:latin typeface="Arial"/>
                <a:ea typeface="Arial"/>
                <a:cs typeface="Arial"/>
              </a:defRPr>
            </a:pPr>
            <a:r>
              <a:rPr sz="975" b="0">
                <a:solidFill>
                  <a:srgbClr val="8FDCD1"/>
                </a:solidFill>
                <a:latin typeface="Arial"/>
                <a:ea typeface="Arial"/>
                <a:cs typeface="Arial"/>
              </a:rPr>
              <a:t>Evidence first · Human approval before calendar writes</a:t>
            </a:r>
          </a:p>
        </p:txBody>
      </p:sp>
    </p:spTree>
    <p:extLst>
      <p:ext uri="{BB962C8B-B14F-4D97-AF65-F5344CB8AC3E}">
        <p14:creationId xmlns:p14="http://schemas.microsoft.com/office/powerpoint/2010/main" val="1367251193"/>
      </p:ext>
    </p:extLst>
  </p:cSld>
</p:sld>
</file>

<file path=ppt/slides/slide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A6C90B7-48ED-43A2-AE09-0BDF1BC5E8EF}"/>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5E5C3FA3-C551-486A-96F9-8A1411029D98}"/>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The problem: important actions are buried in email</a:t>
            </a:r>
          </a:p>
        </p:txBody>
      </p:sp>
      <p:sp>
        <p:nvSpPr>
          <p:cNvPr id="3" name="">
            <a:extLst xmlns:a="http://schemas.openxmlformats.org/drawingml/2006/main">
              <a:ext uri="{FF2B5EF4-FFF2-40B4-BE49-F238E27FC236}">
                <a16:creationId xmlns:a16="http://schemas.microsoft.com/office/drawing/2014/main" id="{63F94563-3CE7-43A0-92A1-6C4D29254957}"/>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B11A26-7769-4A67-AC53-642C0F8D880A}"/>
              </a:ext>
            </a:extLst>
          </p:cNvPr>
          <p:cNvSpPr>
            <a:spLocks xmlns:a="http://schemas.openxmlformats.org/drawingml/2006/main" noGrp="1"/>
          </p:cNvSpPr>
          <p:nvPr/>
        </p:nvSpPr>
        <p:spPr>
          <a:xfrm xmlns:a="http://schemas.openxmlformats.org/drawingml/2006/main">
            <a:off x="666750" y="18669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DAA7AC44-5291-4712-8488-C95DB55D3B28}"/>
              </a:ext>
            </a:extLst>
          </p:cNvPr>
          <p:cNvSpPr>
            <a:spLocks xmlns:a="http://schemas.openxmlformats.org/drawingml/2006/main" noGrp="1"/>
          </p:cNvSpPr>
          <p:nvPr/>
        </p:nvSpPr>
        <p:spPr>
          <a:xfrm xmlns:a="http://schemas.openxmlformats.org/drawingml/2006/main">
            <a:off x="1428750" y="18478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Deadlines arrive in different formats</a:t>
            </a:r>
          </a:p>
        </p:txBody>
      </p:sp>
      <p:sp>
        <p:nvSpPr>
          <p:cNvPr id="6" name="">
            <a:extLst xmlns:a="http://schemas.openxmlformats.org/drawingml/2006/main">
              <a:ext uri="{FF2B5EF4-FFF2-40B4-BE49-F238E27FC236}">
                <a16:creationId xmlns:a16="http://schemas.microsoft.com/office/drawing/2014/main" id="{7BF8F38C-B9DA-4386-B373-502F8FD928B2}"/>
              </a:ext>
            </a:extLst>
          </p:cNvPr>
          <p:cNvSpPr>
            <a:spLocks xmlns:a="http://schemas.openxmlformats.org/drawingml/2006/main" noGrp="1"/>
          </p:cNvSpPr>
          <p:nvPr/>
        </p:nvSpPr>
        <p:spPr>
          <a:xfrm xmlns:a="http://schemas.openxmlformats.org/drawingml/2006/main">
            <a:off x="1428750" y="22383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date may appear in the subject, body, attachment or a later correction.</a:t>
            </a:r>
          </a:p>
        </p:txBody>
      </p:sp>
      <p:sp>
        <p:nvSpPr>
          <p:cNvPr id="7" name="">
            <a:extLst xmlns:a="http://schemas.openxmlformats.org/drawingml/2006/main">
              <a:ext uri="{FF2B5EF4-FFF2-40B4-BE49-F238E27FC236}">
                <a16:creationId xmlns:a16="http://schemas.microsoft.com/office/drawing/2014/main" id="{2DF30023-057D-4EFD-B36C-C0F939A0DE5C}"/>
              </a:ext>
            </a:extLst>
          </p:cNvPr>
          <p:cNvSpPr>
            <a:spLocks xmlns:a="http://schemas.openxmlformats.org/drawingml/2006/main" noGrp="1"/>
          </p:cNvSpPr>
          <p:nvPr/>
        </p:nvSpPr>
        <p:spPr>
          <a:xfrm xmlns:a="http://schemas.openxmlformats.org/drawingml/2006/main">
            <a:off x="1428750" y="28670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8" name="">
            <a:extLst xmlns:a="http://schemas.openxmlformats.org/drawingml/2006/main">
              <a:ext uri="{FF2B5EF4-FFF2-40B4-BE49-F238E27FC236}">
                <a16:creationId xmlns:a16="http://schemas.microsoft.com/office/drawing/2014/main" id="{38DCE320-09D4-4D39-A3BA-E7C21F7725B7}"/>
              </a:ext>
            </a:extLst>
          </p:cNvPr>
          <p:cNvSpPr>
            <a:spLocks xmlns:a="http://schemas.openxmlformats.org/drawingml/2006/main" noGrp="1"/>
          </p:cNvSpPr>
          <p:nvPr/>
        </p:nvSpPr>
        <p:spPr>
          <a:xfrm xmlns:a="http://schemas.openxmlformats.org/drawingml/2006/main">
            <a:off x="666750" y="31242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44213FA2-EC73-41EF-8287-5E96973F092D}"/>
              </a:ext>
            </a:extLst>
          </p:cNvPr>
          <p:cNvSpPr>
            <a:spLocks xmlns:a="http://schemas.openxmlformats.org/drawingml/2006/main" noGrp="1"/>
          </p:cNvSpPr>
          <p:nvPr/>
        </p:nvSpPr>
        <p:spPr>
          <a:xfrm xmlns:a="http://schemas.openxmlformats.org/drawingml/2006/main">
            <a:off x="1428750" y="31051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One task can span several messages</a:t>
            </a:r>
          </a:p>
        </p:txBody>
      </p:sp>
      <p:sp>
        <p:nvSpPr>
          <p:cNvPr id="10" name="">
            <a:extLst xmlns:a="http://schemas.openxmlformats.org/drawingml/2006/main">
              <a:ext uri="{FF2B5EF4-FFF2-40B4-BE49-F238E27FC236}">
                <a16:creationId xmlns:a16="http://schemas.microsoft.com/office/drawing/2014/main" id="{B0CB4D06-3D9C-499A-8AFA-5EB307556BF9}"/>
              </a:ext>
            </a:extLst>
          </p:cNvPr>
          <p:cNvSpPr>
            <a:spLocks xmlns:a="http://schemas.openxmlformats.org/drawingml/2006/main" noGrp="1"/>
          </p:cNvSpPr>
          <p:nvPr/>
        </p:nvSpPr>
        <p:spPr>
          <a:xfrm xmlns:a="http://schemas.openxmlformats.org/drawingml/2006/main">
            <a:off x="1428750" y="34956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Students must decide whether a message creates, updates or cancels the same task.</a:t>
            </a:r>
          </a:p>
        </p:txBody>
      </p:sp>
      <p:sp>
        <p:nvSpPr>
          <p:cNvPr id="11" name="">
            <a:extLst xmlns:a="http://schemas.openxmlformats.org/drawingml/2006/main">
              <a:ext uri="{FF2B5EF4-FFF2-40B4-BE49-F238E27FC236}">
                <a16:creationId xmlns:a16="http://schemas.microsoft.com/office/drawing/2014/main" id="{6280F1B4-508D-44B4-873E-34E3C67E6916}"/>
              </a:ext>
            </a:extLst>
          </p:cNvPr>
          <p:cNvSpPr>
            <a:spLocks xmlns:a="http://schemas.openxmlformats.org/drawingml/2006/main" noGrp="1"/>
          </p:cNvSpPr>
          <p:nvPr/>
        </p:nvSpPr>
        <p:spPr>
          <a:xfrm xmlns:a="http://schemas.openxmlformats.org/drawingml/2006/main">
            <a:off x="1428750" y="41243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12" name="">
            <a:extLst xmlns:a="http://schemas.openxmlformats.org/drawingml/2006/main">
              <a:ext uri="{FF2B5EF4-FFF2-40B4-BE49-F238E27FC236}">
                <a16:creationId xmlns:a16="http://schemas.microsoft.com/office/drawing/2014/main" id="{D6393A81-FAF0-4EA1-9C34-F52216DF2048}"/>
              </a:ext>
            </a:extLst>
          </p:cNvPr>
          <p:cNvSpPr>
            <a:spLocks xmlns:a="http://schemas.openxmlformats.org/drawingml/2006/main" noGrp="1"/>
          </p:cNvSpPr>
          <p:nvPr/>
        </p:nvSpPr>
        <p:spPr>
          <a:xfrm xmlns:a="http://schemas.openxmlformats.org/drawingml/2006/main">
            <a:off x="666750" y="43815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163BB9F7-591F-453B-962B-0F54350BDE2B}"/>
              </a:ext>
            </a:extLst>
          </p:cNvPr>
          <p:cNvSpPr>
            <a:spLocks xmlns:a="http://schemas.openxmlformats.org/drawingml/2006/main" noGrp="1"/>
          </p:cNvSpPr>
          <p:nvPr/>
        </p:nvSpPr>
        <p:spPr>
          <a:xfrm xmlns:a="http://schemas.openxmlformats.org/drawingml/2006/main">
            <a:off x="1428750" y="43624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Manual calendar entry creates risk</a:t>
            </a:r>
          </a:p>
        </p:txBody>
      </p:sp>
      <p:sp>
        <p:nvSpPr>
          <p:cNvPr id="14" name="">
            <a:extLst xmlns:a="http://schemas.openxmlformats.org/drawingml/2006/main">
              <a:ext uri="{FF2B5EF4-FFF2-40B4-BE49-F238E27FC236}">
                <a16:creationId xmlns:a16="http://schemas.microsoft.com/office/drawing/2014/main" id="{C4AAE633-DCCF-4242-812F-3DC2D3CE0FF2}"/>
              </a:ext>
            </a:extLst>
          </p:cNvPr>
          <p:cNvSpPr>
            <a:spLocks xmlns:a="http://schemas.openxmlformats.org/drawingml/2006/main" noGrp="1"/>
          </p:cNvSpPr>
          <p:nvPr/>
        </p:nvSpPr>
        <p:spPr>
          <a:xfrm xmlns:a="http://schemas.openxmlformats.org/drawingml/2006/main">
            <a:off x="1428750" y="47529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wrong date or an automatic write can turn a useful assistant into a costly mistake.</a:t>
            </a:r>
          </a:p>
        </p:txBody>
      </p:sp>
      <p:sp>
        <p:nvSpPr>
          <p:cNvPr id="15" name="">
            <a:extLst xmlns:a="http://schemas.openxmlformats.org/drawingml/2006/main">
              <a:ext uri="{FF2B5EF4-FFF2-40B4-BE49-F238E27FC236}">
                <a16:creationId xmlns:a16="http://schemas.microsoft.com/office/drawing/2014/main" id="{52DA0F99-0548-4A08-8CB8-BB0798464F45}"/>
              </a:ext>
            </a:extLst>
          </p:cNvPr>
          <p:cNvSpPr>
            <a:spLocks xmlns:a="http://schemas.openxmlformats.org/drawingml/2006/main" noGrp="1"/>
          </p:cNvSpPr>
          <p:nvPr/>
        </p:nvSpPr>
        <p:spPr>
          <a:xfrm xmlns:a="http://schemas.openxmlformats.org/drawingml/2006/main">
            <a:off x="1428750" y="53816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16" name="">
            <a:extLst xmlns:a="http://schemas.openxmlformats.org/drawingml/2006/main">
              <a:ext uri="{FF2B5EF4-FFF2-40B4-BE49-F238E27FC236}">
                <a16:creationId xmlns:a16="http://schemas.microsoft.com/office/drawing/2014/main" id="{807DC39E-A9D6-40B9-966B-6A44E0B14F6C}"/>
              </a:ext>
            </a:extLst>
          </p:cNvPr>
          <p:cNvSpPr>
            <a:spLocks xmlns:a="http://schemas.openxmlformats.org/drawingml/2006/main" noGrp="1"/>
          </p:cNvSpPr>
          <p:nvPr/>
        </p:nvSpPr>
        <p:spPr>
          <a:xfrm xmlns:a="http://schemas.openxmlformats.org/drawingml/2006/main">
            <a:off x="7096125" y="1762125"/>
            <a:ext cx="4286250" cy="3714750"/>
          </a:xfrm>
          <a:prstGeom xmlns:a="http://schemas.openxmlformats.org/drawingml/2006/main" prst="roundRect">
            <a:avLst>
              <a:gd name="adj" fmla="val 5641"/>
            </a:avLst>
          </a:prstGeom>
          <a:solidFill xmlns:a="http://schemas.openxmlformats.org/drawingml/2006/main">
            <a:srgbClr val="09264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1C175C-4BE0-4D4B-A293-1934B6443820}"/>
              </a:ext>
            </a:extLst>
          </p:cNvPr>
          <p:cNvSpPr>
            <a:spLocks xmlns:a="http://schemas.openxmlformats.org/drawingml/2006/main" noGrp="1"/>
          </p:cNvSpPr>
          <p:nvPr/>
        </p:nvSpPr>
        <p:spPr>
          <a:xfrm xmlns:a="http://schemas.openxmlformats.org/drawingml/2006/main">
            <a:off x="7524750" y="20955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 typical student inbox</a:t>
            </a:r>
          </a:p>
        </p:txBody>
      </p:sp>
      <p:sp>
        <p:nvSpPr>
          <p:cNvPr id="18" name="">
            <a:extLst xmlns:a="http://schemas.openxmlformats.org/drawingml/2006/main">
              <a:ext uri="{FF2B5EF4-FFF2-40B4-BE49-F238E27FC236}">
                <a16:creationId xmlns:a16="http://schemas.microsoft.com/office/drawing/2014/main" id="{99EF028B-8C5A-4CA2-98A8-2B67EA1BCDD8}"/>
              </a:ext>
            </a:extLst>
          </p:cNvPr>
          <p:cNvSpPr>
            <a:spLocks xmlns:a="http://schemas.openxmlformats.org/drawingml/2006/main" noGrp="1"/>
          </p:cNvSpPr>
          <p:nvPr/>
        </p:nvSpPr>
        <p:spPr>
          <a:xfrm xmlns:a="http://schemas.openxmlformats.org/drawingml/2006/main">
            <a:off x="7524750" y="2647950"/>
            <a:ext cx="3333750" cy="466725"/>
          </a:xfrm>
          <a:prstGeom xmlns:a="http://schemas.openxmlformats.org/drawingml/2006/main" prst="roundRect">
            <a:avLst>
              <a:gd name="adj" fmla="val 22449"/>
            </a:avLst>
          </a:prstGeom>
          <a:solidFill xmlns:a="http://schemas.openxmlformats.org/drawingml/2006/main">
            <a:srgbClr val="FFEEE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69A779F-9B86-48DD-BA3A-F99F9FC690AC}"/>
              </a:ext>
            </a:extLst>
          </p:cNvPr>
          <p:cNvSpPr>
            <a:spLocks xmlns:a="http://schemas.openxmlformats.org/drawingml/2006/main" noGrp="1"/>
          </p:cNvSpPr>
          <p:nvPr/>
        </p:nvSpPr>
        <p:spPr>
          <a:xfrm xmlns:a="http://schemas.openxmlformats.org/drawingml/2006/main">
            <a:off x="7677150" y="27432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Deadline</a:t>
            </a:r>
          </a:p>
        </p:txBody>
      </p:sp>
      <p:sp>
        <p:nvSpPr>
          <p:cNvPr id="20" name="">
            <a:extLst xmlns:a="http://schemas.openxmlformats.org/drawingml/2006/main">
              <a:ext uri="{FF2B5EF4-FFF2-40B4-BE49-F238E27FC236}">
                <a16:creationId xmlns:a16="http://schemas.microsoft.com/office/drawing/2014/main" id="{27F363FD-79BA-4357-98A1-1E8C9BBC8C1D}"/>
              </a:ext>
            </a:extLst>
          </p:cNvPr>
          <p:cNvSpPr>
            <a:spLocks xmlns:a="http://schemas.openxmlformats.org/drawingml/2006/main" noGrp="1"/>
          </p:cNvSpPr>
          <p:nvPr/>
        </p:nvSpPr>
        <p:spPr>
          <a:xfrm xmlns:a="http://schemas.openxmlformats.org/drawingml/2006/main">
            <a:off x="8439150" y="27432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Project due 1 Oct</a:t>
            </a:r>
          </a:p>
        </p:txBody>
      </p:sp>
      <p:sp>
        <p:nvSpPr>
          <p:cNvPr id="21" name="">
            <a:extLst xmlns:a="http://schemas.openxmlformats.org/drawingml/2006/main">
              <a:ext uri="{FF2B5EF4-FFF2-40B4-BE49-F238E27FC236}">
                <a16:creationId xmlns:a16="http://schemas.microsoft.com/office/drawing/2014/main" id="{62616397-4F5A-4C71-8C8A-D15E73A863D9}"/>
              </a:ext>
            </a:extLst>
          </p:cNvPr>
          <p:cNvSpPr>
            <a:spLocks xmlns:a="http://schemas.openxmlformats.org/drawingml/2006/main" noGrp="1"/>
          </p:cNvSpPr>
          <p:nvPr/>
        </p:nvSpPr>
        <p:spPr>
          <a:xfrm xmlns:a="http://schemas.openxmlformats.org/drawingml/2006/main">
            <a:off x="7524750" y="3257550"/>
            <a:ext cx="3333750" cy="466725"/>
          </a:xfrm>
          <a:prstGeom xmlns:a="http://schemas.openxmlformats.org/drawingml/2006/main" prst="roundRect">
            <a:avLst>
              <a:gd name="adj" fmla="val 22449"/>
            </a:avLst>
          </a:prstGeom>
          <a:solidFill xmlns:a="http://schemas.openxmlformats.org/drawingml/2006/main">
            <a:srgbClr val="DFF6F1"/>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52E5D10-4EC3-44E1-943C-33BF6A236634}"/>
              </a:ext>
            </a:extLst>
          </p:cNvPr>
          <p:cNvSpPr>
            <a:spLocks xmlns:a="http://schemas.openxmlformats.org/drawingml/2006/main" noGrp="1"/>
          </p:cNvSpPr>
          <p:nvPr/>
        </p:nvSpPr>
        <p:spPr>
          <a:xfrm xmlns:a="http://schemas.openxmlformats.org/drawingml/2006/main">
            <a:off x="7677150" y="33528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Update</a:t>
            </a:r>
          </a:p>
        </p:txBody>
      </p:sp>
      <p:sp>
        <p:nvSpPr>
          <p:cNvPr id="23" name="">
            <a:extLst xmlns:a="http://schemas.openxmlformats.org/drawingml/2006/main">
              <a:ext uri="{FF2B5EF4-FFF2-40B4-BE49-F238E27FC236}">
                <a16:creationId xmlns:a16="http://schemas.microsoft.com/office/drawing/2014/main" id="{43BC7F1A-3A09-48A8-B2C3-71E278E0E64F}"/>
              </a:ext>
            </a:extLst>
          </p:cNvPr>
          <p:cNvSpPr>
            <a:spLocks xmlns:a="http://schemas.openxmlformats.org/drawingml/2006/main" noGrp="1"/>
          </p:cNvSpPr>
          <p:nvPr/>
        </p:nvSpPr>
        <p:spPr>
          <a:xfrm xmlns:a="http://schemas.openxmlformats.org/drawingml/2006/main">
            <a:off x="8439150" y="33528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Deadline extended to 4 Oct</a:t>
            </a:r>
          </a:p>
        </p:txBody>
      </p:sp>
      <p:sp>
        <p:nvSpPr>
          <p:cNvPr id="24" name="">
            <a:extLst xmlns:a="http://schemas.openxmlformats.org/drawingml/2006/main">
              <a:ext uri="{FF2B5EF4-FFF2-40B4-BE49-F238E27FC236}">
                <a16:creationId xmlns:a16="http://schemas.microsoft.com/office/drawing/2014/main" id="{AF91CEE8-0C66-4E8D-ACFA-ADC8260E54CF}"/>
              </a:ext>
            </a:extLst>
          </p:cNvPr>
          <p:cNvSpPr>
            <a:spLocks xmlns:a="http://schemas.openxmlformats.org/drawingml/2006/main" noGrp="1"/>
          </p:cNvSpPr>
          <p:nvPr/>
        </p:nvSpPr>
        <p:spPr>
          <a:xfrm xmlns:a="http://schemas.openxmlformats.org/drawingml/2006/main">
            <a:off x="7524750" y="3867150"/>
            <a:ext cx="3333750" cy="466725"/>
          </a:xfrm>
          <a:prstGeom xmlns:a="http://schemas.openxmlformats.org/drawingml/2006/main" prst="roundRect">
            <a:avLst>
              <a:gd name="adj" fmla="val 22449"/>
            </a:avLst>
          </a:prstGeom>
          <a:solidFill xmlns:a="http://schemas.openxmlformats.org/drawingml/2006/main">
            <a:srgbClr val="EAF2FC"/>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902C691-438B-4877-A9CC-25B001C84A02}"/>
              </a:ext>
            </a:extLst>
          </p:cNvPr>
          <p:cNvSpPr>
            <a:spLocks xmlns:a="http://schemas.openxmlformats.org/drawingml/2006/main" noGrp="1"/>
          </p:cNvSpPr>
          <p:nvPr/>
        </p:nvSpPr>
        <p:spPr>
          <a:xfrm xmlns:a="http://schemas.openxmlformats.org/drawingml/2006/main">
            <a:off x="7677150" y="39624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Reminder</a:t>
            </a:r>
          </a:p>
        </p:txBody>
      </p:sp>
      <p:sp>
        <p:nvSpPr>
          <p:cNvPr id="26" name="">
            <a:extLst xmlns:a="http://schemas.openxmlformats.org/drawingml/2006/main">
              <a:ext uri="{FF2B5EF4-FFF2-40B4-BE49-F238E27FC236}">
                <a16:creationId xmlns:a16="http://schemas.microsoft.com/office/drawing/2014/main" id="{9145CC73-9716-4CDB-B881-122131E48D9A}"/>
              </a:ext>
            </a:extLst>
          </p:cNvPr>
          <p:cNvSpPr>
            <a:spLocks xmlns:a="http://schemas.openxmlformats.org/drawingml/2006/main" noGrp="1"/>
          </p:cNvSpPr>
          <p:nvPr/>
        </p:nvSpPr>
        <p:spPr>
          <a:xfrm xmlns:a="http://schemas.openxmlformats.org/drawingml/2006/main">
            <a:off x="8439150" y="39624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Please submit on time</a:t>
            </a:r>
          </a:p>
        </p:txBody>
      </p:sp>
      <p:sp>
        <p:nvSpPr>
          <p:cNvPr id="27" name="">
            <a:extLst xmlns:a="http://schemas.openxmlformats.org/drawingml/2006/main">
              <a:ext uri="{FF2B5EF4-FFF2-40B4-BE49-F238E27FC236}">
                <a16:creationId xmlns:a16="http://schemas.microsoft.com/office/drawing/2014/main" id="{D3BD3881-30A0-459A-ABA2-2D344336E8BA}"/>
              </a:ext>
            </a:extLst>
          </p:cNvPr>
          <p:cNvSpPr>
            <a:spLocks xmlns:a="http://schemas.openxmlformats.org/drawingml/2006/main" noGrp="1"/>
          </p:cNvSpPr>
          <p:nvPr/>
        </p:nvSpPr>
        <p:spPr>
          <a:xfrm xmlns:a="http://schemas.openxmlformats.org/drawingml/2006/main">
            <a:off x="7524750" y="4476750"/>
            <a:ext cx="3333750" cy="466725"/>
          </a:xfrm>
          <a:prstGeom xmlns:a="http://schemas.openxmlformats.org/drawingml/2006/main" prst="roundRect">
            <a:avLst>
              <a:gd name="adj" fmla="val 22449"/>
            </a:avLst>
          </a:prstGeom>
          <a:solidFill xmlns:a="http://schemas.openxmlformats.org/drawingml/2006/main">
            <a:srgbClr val="F1F4F7"/>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5EF52E9-AE76-4D6B-AA10-C15861D3FD39}"/>
              </a:ext>
            </a:extLst>
          </p:cNvPr>
          <p:cNvSpPr>
            <a:spLocks xmlns:a="http://schemas.openxmlformats.org/drawingml/2006/main" noGrp="1"/>
          </p:cNvSpPr>
          <p:nvPr/>
        </p:nvSpPr>
        <p:spPr>
          <a:xfrm xmlns:a="http://schemas.openxmlformats.org/drawingml/2006/main">
            <a:off x="7677150" y="45720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Noise</a:t>
            </a:r>
          </a:p>
        </p:txBody>
      </p:sp>
      <p:sp>
        <p:nvSpPr>
          <p:cNvPr id="29" name="">
            <a:extLst xmlns:a="http://schemas.openxmlformats.org/drawingml/2006/main">
              <a:ext uri="{FF2B5EF4-FFF2-40B4-BE49-F238E27FC236}">
                <a16:creationId xmlns:a16="http://schemas.microsoft.com/office/drawing/2014/main" id="{2C3C8490-6F58-4E92-A2F2-32CA6CCA6570}"/>
              </a:ext>
            </a:extLst>
          </p:cNvPr>
          <p:cNvSpPr>
            <a:spLocks xmlns:a="http://schemas.openxmlformats.org/drawingml/2006/main" noGrp="1"/>
          </p:cNvSpPr>
          <p:nvPr/>
        </p:nvSpPr>
        <p:spPr>
          <a:xfrm xmlns:a="http://schemas.openxmlformats.org/drawingml/2006/main">
            <a:off x="8439150" y="45720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Campus newsletter</a:t>
            </a:r>
          </a:p>
        </p:txBody>
      </p:sp>
      <p:sp>
        <p:nvSpPr>
          <p:cNvPr id="30" name="">
            <a:extLst xmlns:a="http://schemas.openxmlformats.org/drawingml/2006/main">
              <a:ext uri="{FF2B5EF4-FFF2-40B4-BE49-F238E27FC236}">
                <a16:creationId xmlns:a16="http://schemas.microsoft.com/office/drawing/2014/main" id="{EEAB52A6-D609-443A-89AB-71FED2AD7F72}"/>
              </a:ext>
            </a:extLst>
          </p:cNvPr>
          <p:cNvSpPr>
            <a:spLocks xmlns:a="http://schemas.openxmlformats.org/drawingml/2006/main" noGrp="1"/>
          </p:cNvSpPr>
          <p:nvPr/>
        </p:nvSpPr>
        <p:spPr>
          <a:xfrm xmlns:a="http://schemas.openxmlformats.org/drawingml/2006/main">
            <a:off x="7524750" y="5095875"/>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1">
                <a:solidFill>
                  <a:srgbClr val="8FDCD1"/>
                </a:solidFill>
                <a:latin typeface="Arial"/>
                <a:ea typeface="Arial"/>
                <a:cs typeface="Arial"/>
              </a:defRPr>
            </a:pPr>
            <a:r>
              <a:rPr sz="1125" b="1">
                <a:solidFill>
                  <a:srgbClr val="8FDCD1"/>
                </a:solidFill>
                <a:latin typeface="Arial"/>
                <a:ea typeface="Arial"/>
                <a:cs typeface="Arial"/>
              </a:rPr>
              <a:t>The user needs one reliable final state</a:t>
            </a:r>
          </a:p>
        </p:txBody>
      </p:sp>
      <p:sp>
        <p:nvSpPr>
          <p:cNvPr id="31" name="">
            <a:extLst xmlns:a="http://schemas.openxmlformats.org/drawingml/2006/main">
              <a:ext uri="{FF2B5EF4-FFF2-40B4-BE49-F238E27FC236}">
                <a16:creationId xmlns:a16="http://schemas.microsoft.com/office/drawing/2014/main" id="{61543EC7-E1A0-4112-BF1E-D704D3BC9CED}"/>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32" name="">
            <a:extLst xmlns:a="http://schemas.openxmlformats.org/drawingml/2006/main">
              <a:ext uri="{FF2B5EF4-FFF2-40B4-BE49-F238E27FC236}">
                <a16:creationId xmlns:a16="http://schemas.microsoft.com/office/drawing/2014/main" id="{B59C7368-DBCB-4BCE-B0D7-07CC4DD8071E}"/>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2</a:t>
            </a:r>
          </a:p>
        </p:txBody>
      </p:sp>
    </p:spTree>
    <p:extLst>
      <p:ext uri="{BB962C8B-B14F-4D97-AF65-F5344CB8AC3E}">
        <p14:creationId xmlns:p14="http://schemas.microsoft.com/office/powerpoint/2010/main" val="19113063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DBE27ECB-B9FE-470A-B650-0473DB77DB85}"/>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D49C7CA5-F7CE-4836-9694-ED1BF438F824}"/>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Product flow from inbox to approved plan</a:t>
            </a:r>
          </a:p>
        </p:txBody>
      </p:sp>
      <p:sp>
        <p:nvSpPr>
          <p:cNvPr id="3" name="">
            <a:extLst xmlns:a="http://schemas.openxmlformats.org/drawingml/2006/main">
              <a:ext uri="{FF2B5EF4-FFF2-40B4-BE49-F238E27FC236}">
                <a16:creationId xmlns:a16="http://schemas.microsoft.com/office/drawing/2014/main" id="{1908CAFC-D408-4202-A2E0-3F1DEB0E943D}"/>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43C56D-257C-46C1-AFA4-826EC8A96F24}"/>
              </a:ext>
            </a:extLst>
          </p:cNvPr>
          <p:cNvSpPr>
            <a:spLocks xmlns:a="http://schemas.openxmlformats.org/drawingml/2006/main" noGrp="1"/>
          </p:cNvSpPr>
          <p:nvPr/>
        </p:nvSpPr>
        <p:spPr>
          <a:xfrm xmlns:a="http://schemas.openxmlformats.org/drawingml/2006/main">
            <a:off x="523875"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5" name="">
            <a:extLst xmlns:a="http://schemas.openxmlformats.org/drawingml/2006/main">
              <a:ext uri="{FF2B5EF4-FFF2-40B4-BE49-F238E27FC236}">
                <a16:creationId xmlns:a16="http://schemas.microsoft.com/office/drawing/2014/main" id="{906025AC-EA61-4AC1-BEB8-2A8B95522208}"/>
              </a:ext>
            </a:extLst>
          </p:cNvPr>
          <p:cNvSpPr>
            <a:spLocks xmlns:a="http://schemas.openxmlformats.org/drawingml/2006/main" noGrp="1"/>
          </p:cNvSpPr>
          <p:nvPr/>
        </p:nvSpPr>
        <p:spPr>
          <a:xfrm xmlns:a="http://schemas.openxmlformats.org/drawingml/2006/main">
            <a:off x="102870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76179E-1C0E-4334-A63F-49C8DC4506FD}"/>
              </a:ext>
            </a:extLst>
          </p:cNvPr>
          <p:cNvSpPr>
            <a:spLocks xmlns:a="http://schemas.openxmlformats.org/drawingml/2006/main" noGrp="1"/>
          </p:cNvSpPr>
          <p:nvPr/>
        </p:nvSpPr>
        <p:spPr>
          <a:xfrm xmlns:a="http://schemas.openxmlformats.org/drawingml/2006/main">
            <a:off x="102870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E028D7BB-A467-4593-9D0E-192E6563FFF5}"/>
              </a:ext>
            </a:extLst>
          </p:cNvPr>
          <p:cNvSpPr>
            <a:spLocks xmlns:a="http://schemas.openxmlformats.org/drawingml/2006/main" noGrp="1"/>
          </p:cNvSpPr>
          <p:nvPr/>
        </p:nvSpPr>
        <p:spPr>
          <a:xfrm xmlns:a="http://schemas.openxmlformats.org/drawingml/2006/main">
            <a:off x="69532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Read</a:t>
            </a:r>
          </a:p>
        </p:txBody>
      </p:sp>
      <p:sp>
        <p:nvSpPr>
          <p:cNvPr id="8" name="">
            <a:extLst xmlns:a="http://schemas.openxmlformats.org/drawingml/2006/main">
              <a:ext uri="{FF2B5EF4-FFF2-40B4-BE49-F238E27FC236}">
                <a16:creationId xmlns:a16="http://schemas.microsoft.com/office/drawing/2014/main" id="{9B170B67-EFD5-41F7-8DA7-89157EF0E123}"/>
              </a:ext>
            </a:extLst>
          </p:cNvPr>
          <p:cNvSpPr>
            <a:spLocks xmlns:a="http://schemas.openxmlformats.org/drawingml/2006/main" noGrp="1"/>
          </p:cNvSpPr>
          <p:nvPr/>
        </p:nvSpPr>
        <p:spPr>
          <a:xfrm xmlns:a="http://schemas.openxmlformats.org/drawingml/2006/main">
            <a:off x="67627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Mailbox connector</a:t>
            </a:r>
          </a:p>
        </p:txBody>
      </p:sp>
      <p:sp>
        <p:nvSpPr>
          <p:cNvPr id="9" name="">
            <a:extLst xmlns:a="http://schemas.openxmlformats.org/drawingml/2006/main">
              <a:ext uri="{FF2B5EF4-FFF2-40B4-BE49-F238E27FC236}">
                <a16:creationId xmlns:a16="http://schemas.microsoft.com/office/drawing/2014/main" id="{7A2CE001-E00C-49E9-A833-FD3C0EE78C49}"/>
              </a:ext>
            </a:extLst>
          </p:cNvPr>
          <p:cNvSpPr>
            <a:spLocks xmlns:a="http://schemas.openxmlformats.org/drawingml/2006/main" noGrp="1"/>
          </p:cNvSpPr>
          <p:nvPr/>
        </p:nvSpPr>
        <p:spPr>
          <a:xfrm xmlns:a="http://schemas.openxmlformats.org/drawingml/2006/main">
            <a:off x="2438400"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10" name="">
            <a:extLst xmlns:a="http://schemas.openxmlformats.org/drawingml/2006/main">
              <a:ext uri="{FF2B5EF4-FFF2-40B4-BE49-F238E27FC236}">
                <a16:creationId xmlns:a16="http://schemas.microsoft.com/office/drawing/2014/main" id="{2BD4F487-E580-4CBC-A5ED-30AD6F6FE7F3}"/>
              </a:ext>
            </a:extLst>
          </p:cNvPr>
          <p:cNvSpPr>
            <a:spLocks xmlns:a="http://schemas.openxmlformats.org/drawingml/2006/main" noGrp="1"/>
          </p:cNvSpPr>
          <p:nvPr/>
        </p:nvSpPr>
        <p:spPr>
          <a:xfrm xmlns:a="http://schemas.openxmlformats.org/drawingml/2006/main">
            <a:off x="2943225"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175A357-56D2-4288-BF9C-E1400CB22D8B}"/>
              </a:ext>
            </a:extLst>
          </p:cNvPr>
          <p:cNvSpPr>
            <a:spLocks xmlns:a="http://schemas.openxmlformats.org/drawingml/2006/main" noGrp="1"/>
          </p:cNvSpPr>
          <p:nvPr/>
        </p:nvSpPr>
        <p:spPr>
          <a:xfrm xmlns:a="http://schemas.openxmlformats.org/drawingml/2006/main">
            <a:off x="294322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DAD38F6D-D18B-4FD8-A22D-A5EEF7384C52}"/>
              </a:ext>
            </a:extLst>
          </p:cNvPr>
          <p:cNvSpPr>
            <a:spLocks xmlns:a="http://schemas.openxmlformats.org/drawingml/2006/main" noGrp="1"/>
          </p:cNvSpPr>
          <p:nvPr/>
        </p:nvSpPr>
        <p:spPr>
          <a:xfrm xmlns:a="http://schemas.openxmlformats.org/drawingml/2006/main">
            <a:off x="260985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Filter</a:t>
            </a:r>
          </a:p>
        </p:txBody>
      </p:sp>
      <p:sp>
        <p:nvSpPr>
          <p:cNvPr id="13" name="">
            <a:extLst xmlns:a="http://schemas.openxmlformats.org/drawingml/2006/main">
              <a:ext uri="{FF2B5EF4-FFF2-40B4-BE49-F238E27FC236}">
                <a16:creationId xmlns:a16="http://schemas.microsoft.com/office/drawing/2014/main" id="{0F59DF8C-2C9C-4AC8-B7DC-8706792BC0CE}"/>
              </a:ext>
            </a:extLst>
          </p:cNvPr>
          <p:cNvSpPr>
            <a:spLocks xmlns:a="http://schemas.openxmlformats.org/drawingml/2006/main" noGrp="1"/>
          </p:cNvSpPr>
          <p:nvPr/>
        </p:nvSpPr>
        <p:spPr>
          <a:xfrm xmlns:a="http://schemas.openxmlformats.org/drawingml/2006/main">
            <a:off x="259080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Course scope</a:t>
            </a:r>
          </a:p>
        </p:txBody>
      </p:sp>
      <p:sp>
        <p:nvSpPr>
          <p:cNvPr id="14" name="">
            <a:extLst xmlns:a="http://schemas.openxmlformats.org/drawingml/2006/main">
              <a:ext uri="{FF2B5EF4-FFF2-40B4-BE49-F238E27FC236}">
                <a16:creationId xmlns:a16="http://schemas.microsoft.com/office/drawing/2014/main" id="{63ED57AB-0CCD-485E-AF40-2047FB4CD703}"/>
              </a:ext>
            </a:extLst>
          </p:cNvPr>
          <p:cNvSpPr>
            <a:spLocks xmlns:a="http://schemas.openxmlformats.org/drawingml/2006/main" noGrp="1"/>
          </p:cNvSpPr>
          <p:nvPr/>
        </p:nvSpPr>
        <p:spPr>
          <a:xfrm xmlns:a="http://schemas.openxmlformats.org/drawingml/2006/main">
            <a:off x="4352925"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15" name="">
            <a:extLst xmlns:a="http://schemas.openxmlformats.org/drawingml/2006/main">
              <a:ext uri="{FF2B5EF4-FFF2-40B4-BE49-F238E27FC236}">
                <a16:creationId xmlns:a16="http://schemas.microsoft.com/office/drawing/2014/main" id="{C88E7AC2-BC9F-46E0-9C87-7C23C4D6E72C}"/>
              </a:ext>
            </a:extLst>
          </p:cNvPr>
          <p:cNvSpPr>
            <a:spLocks xmlns:a="http://schemas.openxmlformats.org/drawingml/2006/main" noGrp="1"/>
          </p:cNvSpPr>
          <p:nvPr/>
        </p:nvSpPr>
        <p:spPr>
          <a:xfrm xmlns:a="http://schemas.openxmlformats.org/drawingml/2006/main">
            <a:off x="485775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A31BE72-C6BB-4353-B6D1-A88A2236CAFA}"/>
              </a:ext>
            </a:extLst>
          </p:cNvPr>
          <p:cNvSpPr>
            <a:spLocks xmlns:a="http://schemas.openxmlformats.org/drawingml/2006/main" noGrp="1"/>
          </p:cNvSpPr>
          <p:nvPr/>
        </p:nvSpPr>
        <p:spPr>
          <a:xfrm xmlns:a="http://schemas.openxmlformats.org/drawingml/2006/main">
            <a:off x="485775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334A0E2C-08D8-4E92-871D-AB9B9D737B8D}"/>
              </a:ext>
            </a:extLst>
          </p:cNvPr>
          <p:cNvSpPr>
            <a:spLocks xmlns:a="http://schemas.openxmlformats.org/drawingml/2006/main" noGrp="1"/>
          </p:cNvSpPr>
          <p:nvPr/>
        </p:nvSpPr>
        <p:spPr>
          <a:xfrm xmlns:a="http://schemas.openxmlformats.org/drawingml/2006/main">
            <a:off x="452437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Extract</a:t>
            </a:r>
          </a:p>
        </p:txBody>
      </p:sp>
      <p:sp>
        <p:nvSpPr>
          <p:cNvPr id="18" name="">
            <a:extLst xmlns:a="http://schemas.openxmlformats.org/drawingml/2006/main">
              <a:ext uri="{FF2B5EF4-FFF2-40B4-BE49-F238E27FC236}">
                <a16:creationId xmlns:a16="http://schemas.microsoft.com/office/drawing/2014/main" id="{543BD57F-A642-45C8-8EBE-9B3F9D4B6AB5}"/>
              </a:ext>
            </a:extLst>
          </p:cNvPr>
          <p:cNvSpPr>
            <a:spLocks xmlns:a="http://schemas.openxmlformats.org/drawingml/2006/main" noGrp="1"/>
          </p:cNvSpPr>
          <p:nvPr/>
        </p:nvSpPr>
        <p:spPr>
          <a:xfrm xmlns:a="http://schemas.openxmlformats.org/drawingml/2006/main">
            <a:off x="450532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Task and evidence</a:t>
            </a:r>
          </a:p>
        </p:txBody>
      </p:sp>
      <p:sp>
        <p:nvSpPr>
          <p:cNvPr id="19" name="">
            <a:extLst xmlns:a="http://schemas.openxmlformats.org/drawingml/2006/main">
              <a:ext uri="{FF2B5EF4-FFF2-40B4-BE49-F238E27FC236}">
                <a16:creationId xmlns:a16="http://schemas.microsoft.com/office/drawing/2014/main" id="{69A6CF60-4175-4267-BE9A-C04E145200BE}"/>
              </a:ext>
            </a:extLst>
          </p:cNvPr>
          <p:cNvSpPr>
            <a:spLocks xmlns:a="http://schemas.openxmlformats.org/drawingml/2006/main" noGrp="1"/>
          </p:cNvSpPr>
          <p:nvPr/>
        </p:nvSpPr>
        <p:spPr>
          <a:xfrm xmlns:a="http://schemas.openxmlformats.org/drawingml/2006/main">
            <a:off x="6267450"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20" name="">
            <a:extLst xmlns:a="http://schemas.openxmlformats.org/drawingml/2006/main">
              <a:ext uri="{FF2B5EF4-FFF2-40B4-BE49-F238E27FC236}">
                <a16:creationId xmlns:a16="http://schemas.microsoft.com/office/drawing/2014/main" id="{988A7A9C-5132-4AC4-9C55-3ACB0ED45222}"/>
              </a:ext>
            </a:extLst>
          </p:cNvPr>
          <p:cNvSpPr>
            <a:spLocks xmlns:a="http://schemas.openxmlformats.org/drawingml/2006/main" noGrp="1"/>
          </p:cNvSpPr>
          <p:nvPr/>
        </p:nvSpPr>
        <p:spPr>
          <a:xfrm xmlns:a="http://schemas.openxmlformats.org/drawingml/2006/main">
            <a:off x="6772275"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D156CAF-D867-4B15-A801-EA4727029662}"/>
              </a:ext>
            </a:extLst>
          </p:cNvPr>
          <p:cNvSpPr>
            <a:spLocks xmlns:a="http://schemas.openxmlformats.org/drawingml/2006/main" noGrp="1"/>
          </p:cNvSpPr>
          <p:nvPr/>
        </p:nvSpPr>
        <p:spPr>
          <a:xfrm xmlns:a="http://schemas.openxmlformats.org/drawingml/2006/main">
            <a:off x="677227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22F8E162-9C76-435F-BD31-ABEB82DD6DE8}"/>
              </a:ext>
            </a:extLst>
          </p:cNvPr>
          <p:cNvSpPr>
            <a:spLocks xmlns:a="http://schemas.openxmlformats.org/drawingml/2006/main" noGrp="1"/>
          </p:cNvSpPr>
          <p:nvPr/>
        </p:nvSpPr>
        <p:spPr>
          <a:xfrm xmlns:a="http://schemas.openxmlformats.org/drawingml/2006/main">
            <a:off x="643890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Merge</a:t>
            </a:r>
          </a:p>
        </p:txBody>
      </p:sp>
      <p:sp>
        <p:nvSpPr>
          <p:cNvPr id="23" name="">
            <a:extLst xmlns:a="http://schemas.openxmlformats.org/drawingml/2006/main">
              <a:ext uri="{FF2B5EF4-FFF2-40B4-BE49-F238E27FC236}">
                <a16:creationId xmlns:a16="http://schemas.microsoft.com/office/drawing/2014/main" id="{DC881B1A-1BE4-42E7-B5AA-05F2D242BA2D}"/>
              </a:ext>
            </a:extLst>
          </p:cNvPr>
          <p:cNvSpPr>
            <a:spLocks xmlns:a="http://schemas.openxmlformats.org/drawingml/2006/main" noGrp="1"/>
          </p:cNvSpPr>
          <p:nvPr/>
        </p:nvSpPr>
        <p:spPr>
          <a:xfrm xmlns:a="http://schemas.openxmlformats.org/drawingml/2006/main">
            <a:off x="641985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Latest final state</a:t>
            </a:r>
          </a:p>
        </p:txBody>
      </p:sp>
      <p:sp>
        <p:nvSpPr>
          <p:cNvPr id="24" name="">
            <a:extLst xmlns:a="http://schemas.openxmlformats.org/drawingml/2006/main">
              <a:ext uri="{FF2B5EF4-FFF2-40B4-BE49-F238E27FC236}">
                <a16:creationId xmlns:a16="http://schemas.microsoft.com/office/drawing/2014/main" id="{2C18A45B-2A8A-46CA-94AA-896CA07CCAC3}"/>
              </a:ext>
            </a:extLst>
          </p:cNvPr>
          <p:cNvSpPr>
            <a:spLocks xmlns:a="http://schemas.openxmlformats.org/drawingml/2006/main" noGrp="1"/>
          </p:cNvSpPr>
          <p:nvPr/>
        </p:nvSpPr>
        <p:spPr>
          <a:xfrm xmlns:a="http://schemas.openxmlformats.org/drawingml/2006/main">
            <a:off x="8181975" y="2238375"/>
            <a:ext cx="1524000" cy="1695450"/>
          </a:xfrm>
          <a:prstGeom xmlns:a="http://schemas.openxmlformats.org/drawingml/2006/main" prst="roundRect">
            <a:avLst>
              <a:gd name="adj" fmla="val 11250"/>
            </a:avLst>
          </a:prstGeom>
          <a:solidFill xmlns:a="http://schemas.openxmlformats.org/drawingml/2006/main">
            <a:srgbClr val="DDF6F1"/>
          </a:solidFill>
          <a:ln xmlns:a="http://schemas.openxmlformats.org/drawingml/2006/main" w="9525">
            <a:solidFill>
              <a:srgbClr val="DCE6EE"/>
            </a:solidFill>
            <a:prstDash val="solid"/>
          </a:ln>
        </p:spPr>
      </p:sp>
      <p:sp>
        <p:nvSpPr>
          <p:cNvPr id="25" name="">
            <a:extLst xmlns:a="http://schemas.openxmlformats.org/drawingml/2006/main">
              <a:ext uri="{FF2B5EF4-FFF2-40B4-BE49-F238E27FC236}">
                <a16:creationId xmlns:a16="http://schemas.microsoft.com/office/drawing/2014/main" id="{51A2F581-CF66-41AF-AC17-8F8468342FAA}"/>
              </a:ext>
            </a:extLst>
          </p:cNvPr>
          <p:cNvSpPr>
            <a:spLocks xmlns:a="http://schemas.openxmlformats.org/drawingml/2006/main" noGrp="1"/>
          </p:cNvSpPr>
          <p:nvPr/>
        </p:nvSpPr>
        <p:spPr>
          <a:xfrm xmlns:a="http://schemas.openxmlformats.org/drawingml/2006/main">
            <a:off x="868680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B009F4F-3541-4D6D-89F9-06E4FA08AE68}"/>
              </a:ext>
            </a:extLst>
          </p:cNvPr>
          <p:cNvSpPr>
            <a:spLocks xmlns:a="http://schemas.openxmlformats.org/drawingml/2006/main" noGrp="1"/>
          </p:cNvSpPr>
          <p:nvPr/>
        </p:nvSpPr>
        <p:spPr>
          <a:xfrm xmlns:a="http://schemas.openxmlformats.org/drawingml/2006/main">
            <a:off x="868680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7" name="">
            <a:extLst xmlns:a="http://schemas.openxmlformats.org/drawingml/2006/main">
              <a:ext uri="{FF2B5EF4-FFF2-40B4-BE49-F238E27FC236}">
                <a16:creationId xmlns:a16="http://schemas.microsoft.com/office/drawing/2014/main" id="{62CD98F9-5A68-4A81-BC04-81132721B7E9}"/>
              </a:ext>
            </a:extLst>
          </p:cNvPr>
          <p:cNvSpPr>
            <a:spLocks xmlns:a="http://schemas.openxmlformats.org/drawingml/2006/main" noGrp="1"/>
          </p:cNvSpPr>
          <p:nvPr/>
        </p:nvSpPr>
        <p:spPr>
          <a:xfrm xmlns:a="http://schemas.openxmlformats.org/drawingml/2006/main">
            <a:off x="835342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Plan</a:t>
            </a:r>
          </a:p>
        </p:txBody>
      </p:sp>
      <p:sp>
        <p:nvSpPr>
          <p:cNvPr id="28" name="">
            <a:extLst xmlns:a="http://schemas.openxmlformats.org/drawingml/2006/main">
              <a:ext uri="{FF2B5EF4-FFF2-40B4-BE49-F238E27FC236}">
                <a16:creationId xmlns:a16="http://schemas.microsoft.com/office/drawing/2014/main" id="{B1A8108B-ACAE-4BEF-B55C-B8B83B7438C4}"/>
              </a:ext>
            </a:extLst>
          </p:cNvPr>
          <p:cNvSpPr>
            <a:spLocks xmlns:a="http://schemas.openxmlformats.org/drawingml/2006/main" noGrp="1"/>
          </p:cNvSpPr>
          <p:nvPr/>
        </p:nvSpPr>
        <p:spPr>
          <a:xfrm xmlns:a="http://schemas.openxmlformats.org/drawingml/2006/main">
            <a:off x="833437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Backward schedule</a:t>
            </a:r>
          </a:p>
        </p:txBody>
      </p:sp>
      <p:sp>
        <p:nvSpPr>
          <p:cNvPr id="29" name="">
            <a:extLst xmlns:a="http://schemas.openxmlformats.org/drawingml/2006/main">
              <a:ext uri="{FF2B5EF4-FFF2-40B4-BE49-F238E27FC236}">
                <a16:creationId xmlns:a16="http://schemas.microsoft.com/office/drawing/2014/main" id="{5B7FFDC4-9ED6-455B-8A7E-92DF1EB5B159}"/>
              </a:ext>
            </a:extLst>
          </p:cNvPr>
          <p:cNvSpPr>
            <a:spLocks xmlns:a="http://schemas.openxmlformats.org/drawingml/2006/main" noGrp="1"/>
          </p:cNvSpPr>
          <p:nvPr/>
        </p:nvSpPr>
        <p:spPr>
          <a:xfrm xmlns:a="http://schemas.openxmlformats.org/drawingml/2006/main">
            <a:off x="10096500" y="2238375"/>
            <a:ext cx="1524000" cy="1695450"/>
          </a:xfrm>
          <a:prstGeom xmlns:a="http://schemas.openxmlformats.org/drawingml/2006/main" prst="roundRect">
            <a:avLst>
              <a:gd name="adj" fmla="val 11250"/>
            </a:avLst>
          </a:prstGeom>
          <a:solidFill xmlns:a="http://schemas.openxmlformats.org/drawingml/2006/main">
            <a:srgbClr val="092642"/>
          </a:solidFill>
          <a:ln xmlns:a="http://schemas.openxmlformats.org/drawingml/2006/main" w="9525">
            <a:solidFill>
              <a:srgbClr val="092642"/>
            </a:solidFill>
            <a:prstDash val="solid"/>
          </a:ln>
        </p:spPr>
      </p:sp>
      <p:sp>
        <p:nvSpPr>
          <p:cNvPr id="30" name="">
            <a:extLst xmlns:a="http://schemas.openxmlformats.org/drawingml/2006/main">
              <a:ext uri="{FF2B5EF4-FFF2-40B4-BE49-F238E27FC236}">
                <a16:creationId xmlns:a16="http://schemas.microsoft.com/office/drawing/2014/main" id="{974BF2FD-A7C3-457A-90EB-84DD09F69AB2}"/>
              </a:ext>
            </a:extLst>
          </p:cNvPr>
          <p:cNvSpPr>
            <a:spLocks xmlns:a="http://schemas.openxmlformats.org/drawingml/2006/main" noGrp="1"/>
          </p:cNvSpPr>
          <p:nvPr/>
        </p:nvSpPr>
        <p:spPr>
          <a:xfrm xmlns:a="http://schemas.openxmlformats.org/drawingml/2006/main">
            <a:off x="10601325" y="2428875"/>
            <a:ext cx="514350" cy="514350"/>
          </a:xfrm>
          <a:prstGeom xmlns:a="http://schemas.openxmlformats.org/drawingml/2006/main" prst="ellipse">
            <a:avLst/>
          </a:prstGeom>
          <a:solidFill xmlns:a="http://schemas.openxmlformats.org/drawingml/2006/main">
            <a:srgbClr val="45D6C6"/>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A8366EB-C04B-47B8-8394-6B48F1C74D8F}"/>
              </a:ext>
            </a:extLst>
          </p:cNvPr>
          <p:cNvSpPr>
            <a:spLocks xmlns:a="http://schemas.openxmlformats.org/drawingml/2006/main" noGrp="1"/>
          </p:cNvSpPr>
          <p:nvPr/>
        </p:nvSpPr>
        <p:spPr>
          <a:xfrm xmlns:a="http://schemas.openxmlformats.org/drawingml/2006/main">
            <a:off x="1060132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6</a:t>
            </a:r>
          </a:p>
        </p:txBody>
      </p:sp>
      <p:sp>
        <p:nvSpPr>
          <p:cNvPr id="32" name="">
            <a:extLst xmlns:a="http://schemas.openxmlformats.org/drawingml/2006/main">
              <a:ext uri="{FF2B5EF4-FFF2-40B4-BE49-F238E27FC236}">
                <a16:creationId xmlns:a16="http://schemas.microsoft.com/office/drawing/2014/main" id="{30C43ADF-4149-4DE5-851B-A1AA1A705438}"/>
              </a:ext>
            </a:extLst>
          </p:cNvPr>
          <p:cNvSpPr>
            <a:spLocks xmlns:a="http://schemas.openxmlformats.org/drawingml/2006/main" noGrp="1"/>
          </p:cNvSpPr>
          <p:nvPr/>
        </p:nvSpPr>
        <p:spPr>
          <a:xfrm xmlns:a="http://schemas.openxmlformats.org/drawingml/2006/main">
            <a:off x="1026795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Approve</a:t>
            </a:r>
          </a:p>
        </p:txBody>
      </p:sp>
      <p:sp>
        <p:nvSpPr>
          <p:cNvPr id="33" name="">
            <a:extLst xmlns:a="http://schemas.openxmlformats.org/drawingml/2006/main">
              <a:ext uri="{FF2B5EF4-FFF2-40B4-BE49-F238E27FC236}">
                <a16:creationId xmlns:a16="http://schemas.microsoft.com/office/drawing/2014/main" id="{669F99F2-773F-45F8-AAC8-13F8CB007788}"/>
              </a:ext>
            </a:extLst>
          </p:cNvPr>
          <p:cNvSpPr>
            <a:spLocks xmlns:a="http://schemas.openxmlformats.org/drawingml/2006/main" noGrp="1"/>
          </p:cNvSpPr>
          <p:nvPr/>
        </p:nvSpPr>
        <p:spPr>
          <a:xfrm xmlns:a="http://schemas.openxmlformats.org/drawingml/2006/main">
            <a:off x="1024890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BFD4E2"/>
                </a:solidFill>
                <a:latin typeface="Arial"/>
                <a:ea typeface="Arial"/>
                <a:cs typeface="Arial"/>
              </a:defRPr>
            </a:pPr>
            <a:r>
              <a:rPr sz="975" b="0">
                <a:solidFill>
                  <a:srgbClr val="BFD4E2"/>
                </a:solidFill>
                <a:latin typeface="Arial"/>
                <a:ea typeface="Arial"/>
                <a:cs typeface="Arial"/>
              </a:rPr>
              <a:t>Calendar gate</a:t>
            </a:r>
          </a:p>
        </p:txBody>
      </p:sp>
      <p:sp>
        <p:nvSpPr>
          <p:cNvPr id="34" name="">
            <a:extLst xmlns:a="http://schemas.openxmlformats.org/drawingml/2006/main">
              <a:ext uri="{FF2B5EF4-FFF2-40B4-BE49-F238E27FC236}">
                <a16:creationId xmlns:a16="http://schemas.microsoft.com/office/drawing/2014/main" id="{7B07642F-D165-4E69-A0D1-BBD22642A545}"/>
              </a:ext>
            </a:extLst>
          </p:cNvPr>
          <p:cNvSpPr>
            <a:spLocks xmlns:a="http://schemas.openxmlformats.org/drawingml/2006/main" noGrp="1"/>
          </p:cNvSpPr>
          <p:nvPr/>
        </p:nvSpPr>
        <p:spPr>
          <a:xfrm xmlns:a="http://schemas.openxmlformats.org/drawingml/2006/main">
            <a:off x="206692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AD63312D-A2E2-47CD-9D93-F0E7048D7A3E}"/>
              </a:ext>
            </a:extLst>
          </p:cNvPr>
          <p:cNvSpPr>
            <a:spLocks xmlns:a="http://schemas.openxmlformats.org/drawingml/2006/main" noGrp="1"/>
          </p:cNvSpPr>
          <p:nvPr/>
        </p:nvSpPr>
        <p:spPr>
          <a:xfrm xmlns:a="http://schemas.openxmlformats.org/drawingml/2006/main">
            <a:off x="3981450"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6" name="">
            <a:extLst xmlns:a="http://schemas.openxmlformats.org/drawingml/2006/main">
              <a:ext uri="{FF2B5EF4-FFF2-40B4-BE49-F238E27FC236}">
                <a16:creationId xmlns:a16="http://schemas.microsoft.com/office/drawing/2014/main" id="{04174643-DFD3-4532-B902-E7C624FB0A85}"/>
              </a:ext>
            </a:extLst>
          </p:cNvPr>
          <p:cNvSpPr>
            <a:spLocks xmlns:a="http://schemas.openxmlformats.org/drawingml/2006/main" noGrp="1"/>
          </p:cNvSpPr>
          <p:nvPr/>
        </p:nvSpPr>
        <p:spPr>
          <a:xfrm xmlns:a="http://schemas.openxmlformats.org/drawingml/2006/main">
            <a:off x="589597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7" name="">
            <a:extLst xmlns:a="http://schemas.openxmlformats.org/drawingml/2006/main">
              <a:ext uri="{FF2B5EF4-FFF2-40B4-BE49-F238E27FC236}">
                <a16:creationId xmlns:a16="http://schemas.microsoft.com/office/drawing/2014/main" id="{F71525EB-C3F7-47F6-B1C3-76278D873B20}"/>
              </a:ext>
            </a:extLst>
          </p:cNvPr>
          <p:cNvSpPr>
            <a:spLocks xmlns:a="http://schemas.openxmlformats.org/drawingml/2006/main" noGrp="1"/>
          </p:cNvSpPr>
          <p:nvPr/>
        </p:nvSpPr>
        <p:spPr>
          <a:xfrm xmlns:a="http://schemas.openxmlformats.org/drawingml/2006/main">
            <a:off x="7810500"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8" name="">
            <a:extLst xmlns:a="http://schemas.openxmlformats.org/drawingml/2006/main">
              <a:ext uri="{FF2B5EF4-FFF2-40B4-BE49-F238E27FC236}">
                <a16:creationId xmlns:a16="http://schemas.microsoft.com/office/drawing/2014/main" id="{AB2A357C-B52A-4B54-8D29-4D8EE49A6AB7}"/>
              </a:ext>
            </a:extLst>
          </p:cNvPr>
          <p:cNvSpPr>
            <a:spLocks xmlns:a="http://schemas.openxmlformats.org/drawingml/2006/main" noGrp="1"/>
          </p:cNvSpPr>
          <p:nvPr/>
        </p:nvSpPr>
        <p:spPr>
          <a:xfrm xmlns:a="http://schemas.openxmlformats.org/drawingml/2006/main">
            <a:off x="972502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9" name="">
            <a:extLst xmlns:a="http://schemas.openxmlformats.org/drawingml/2006/main">
              <a:ext uri="{FF2B5EF4-FFF2-40B4-BE49-F238E27FC236}">
                <a16:creationId xmlns:a16="http://schemas.microsoft.com/office/drawing/2014/main" id="{A663F56B-78D3-4AF7-A1C3-7C905F889376}"/>
              </a:ext>
            </a:extLst>
          </p:cNvPr>
          <p:cNvSpPr>
            <a:spLocks xmlns:a="http://schemas.openxmlformats.org/drawingml/2006/main" noGrp="1"/>
          </p:cNvSpPr>
          <p:nvPr/>
        </p:nvSpPr>
        <p:spPr>
          <a:xfrm xmlns:a="http://schemas.openxmlformats.org/drawingml/2006/main">
            <a:off x="2000250" y="4619625"/>
            <a:ext cx="819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875" b="1">
                <a:solidFill>
                  <a:srgbClr val="092642"/>
                </a:solidFill>
                <a:latin typeface="Arial"/>
                <a:ea typeface="Arial"/>
                <a:cs typeface="Arial"/>
              </a:defRPr>
            </a:pPr>
            <a:r>
              <a:rPr sz="1875" b="1">
                <a:solidFill>
                  <a:srgbClr val="092642"/>
                </a:solidFill>
                <a:latin typeface="Arial"/>
                <a:ea typeface="Arial"/>
                <a:cs typeface="Arial"/>
              </a:rPr>
              <a:t>The Agent prepares the decision. The student owns the final action.</a:t>
            </a:r>
          </a:p>
        </p:txBody>
      </p:sp>
      <p:sp>
        <p:nvSpPr>
          <p:cNvPr id="40" name="">
            <a:extLst xmlns:a="http://schemas.openxmlformats.org/drawingml/2006/main">
              <a:ext uri="{FF2B5EF4-FFF2-40B4-BE49-F238E27FC236}">
                <a16:creationId xmlns:a16="http://schemas.microsoft.com/office/drawing/2014/main" id="{EB5366BF-FEF5-4FD9-9165-8D7CC05E5FE7}"/>
              </a:ext>
            </a:extLst>
          </p:cNvPr>
          <p:cNvSpPr>
            <a:spLocks xmlns:a="http://schemas.openxmlformats.org/drawingml/2006/main" noGrp="1"/>
          </p:cNvSpPr>
          <p:nvPr/>
        </p:nvSpPr>
        <p:spPr>
          <a:xfrm xmlns:a="http://schemas.openxmlformats.org/drawingml/2006/main">
            <a:off x="2381250" y="5191125"/>
            <a:ext cx="742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75" b="0">
                <a:solidFill>
                  <a:srgbClr val="66788D"/>
                </a:solidFill>
                <a:latin typeface="Arial"/>
                <a:ea typeface="Arial"/>
                <a:cs typeface="Arial"/>
              </a:defRPr>
            </a:pPr>
            <a:r>
              <a:rPr sz="1275" b="0">
                <a:solidFill>
                  <a:srgbClr val="66788D"/>
                </a:solidFill>
                <a:latin typeface="Arial"/>
                <a:ea typeface="Arial"/>
                <a:cs typeface="Arial"/>
              </a:rPr>
              <a:t>Every proposal links back to an exact sentence from the source email.</a:t>
            </a:r>
          </a:p>
        </p:txBody>
      </p:sp>
      <p:sp>
        <p:nvSpPr>
          <p:cNvPr id="41" name="">
            <a:extLst xmlns:a="http://schemas.openxmlformats.org/drawingml/2006/main">
              <a:ext uri="{FF2B5EF4-FFF2-40B4-BE49-F238E27FC236}">
                <a16:creationId xmlns:a16="http://schemas.microsoft.com/office/drawing/2014/main" id="{0B4F5901-D75F-4665-84E8-09EB2575E8C3}"/>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42" name="">
            <a:extLst xmlns:a="http://schemas.openxmlformats.org/drawingml/2006/main">
              <a:ext uri="{FF2B5EF4-FFF2-40B4-BE49-F238E27FC236}">
                <a16:creationId xmlns:a16="http://schemas.microsoft.com/office/drawing/2014/main" id="{7AB08B6D-C765-4E81-AD98-F4D79D6DAF74}"/>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3</a:t>
            </a:r>
          </a:p>
        </p:txBody>
      </p:sp>
    </p:spTree>
    <p:extLst>
      <p:ext uri="{BB962C8B-B14F-4D97-AF65-F5344CB8AC3E}">
        <p14:creationId xmlns:p14="http://schemas.microsoft.com/office/powerpoint/2010/main" val="2121641916"/>
      </p:ext>
    </p:extLst>
  </p:cSld>
</p:sld>
</file>

<file path=ppt/slides/slide4.xml><?xml version="1.0" encoding="utf-8"?>
<p:sld xmlns:p="http://schemas.openxmlformats.org/presentationml/2006/main">
  <p:cSld>
    <p:bg>
      <p:bgPr>
        <a:solidFill xmlns:a="http://schemas.openxmlformats.org/drawingml/2006/main">
          <a:srgbClr val="092642"/>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4FF9AC13-D695-4078-BF28-ABB242FFED79}"/>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8FDCD1"/>
                </a:solidFill>
                <a:latin typeface="Arial"/>
                <a:ea typeface="Arial"/>
                <a:cs typeface="Arial"/>
              </a:defRPr>
            </a:pPr>
            <a:r>
              <a:rPr sz="975" b="1">
                <a:solidFill>
                  <a:srgbClr val="8FDCD1"/>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D2CACEC3-8A05-4392-B25C-0478D8252A03}"/>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FFFFFF"/>
                </a:solidFill>
                <a:latin typeface="Arial"/>
                <a:ea typeface="Arial"/>
                <a:cs typeface="Arial"/>
              </a:defRPr>
            </a:pPr>
            <a:r>
              <a:rPr sz="2925" b="1">
                <a:solidFill>
                  <a:srgbClr val="FFFFFF"/>
                </a:solidFill>
                <a:latin typeface="Arial"/>
                <a:ea typeface="Arial"/>
                <a:cs typeface="Arial"/>
              </a:rPr>
              <a:t>The Agent loop and its tools</a:t>
            </a:r>
          </a:p>
        </p:txBody>
      </p:sp>
      <p:sp>
        <p:nvSpPr>
          <p:cNvPr id="3" name="">
            <a:extLst xmlns:a="http://schemas.openxmlformats.org/drawingml/2006/main">
              <a:ext uri="{FF2B5EF4-FFF2-40B4-BE49-F238E27FC236}">
                <a16:creationId xmlns:a16="http://schemas.microsoft.com/office/drawing/2014/main" id="{A2611762-7A8C-48CF-9686-8EAAB402C4D3}"/>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52D8C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A4B1BB0-FB6B-4FFD-A137-BFA04E69FB14}"/>
              </a:ext>
            </a:extLst>
          </p:cNvPr>
          <p:cNvSpPr>
            <a:spLocks xmlns:a="http://schemas.openxmlformats.org/drawingml/2006/main" noGrp="1"/>
          </p:cNvSpPr>
          <p:nvPr/>
        </p:nvSpPr>
        <p:spPr>
          <a:xfrm xmlns:a="http://schemas.openxmlformats.org/drawingml/2006/main">
            <a:off x="1238250" y="2000250"/>
            <a:ext cx="1809750" cy="1809750"/>
          </a:xfrm>
          <a:prstGeom xmlns:a="http://schemas.openxmlformats.org/drawingml/2006/main" prst="ellipse">
            <a:avLst/>
          </a:prstGeom>
          <a:solidFill xmlns:a="http://schemas.openxmlformats.org/drawingml/2006/main">
            <a:srgbClr val="123E5C"/>
          </a:solidFill>
          <a:ln xmlns:a="http://schemas.openxmlformats.org/drawingml/2006/main" w="9525">
            <a:solidFill>
              <a:srgbClr val="4DD8C7"/>
            </a:solidFill>
            <a:prstDash val="solid"/>
          </a:ln>
        </p:spPr>
      </p:sp>
      <p:sp>
        <p:nvSpPr>
          <p:cNvPr id="5" name="">
            <a:extLst xmlns:a="http://schemas.openxmlformats.org/drawingml/2006/main">
              <a:ext uri="{FF2B5EF4-FFF2-40B4-BE49-F238E27FC236}">
                <a16:creationId xmlns:a16="http://schemas.microsoft.com/office/drawing/2014/main" id="{88E0A6E4-2E0E-4090-B7ED-A5907EA8E8EA}"/>
              </a:ext>
            </a:extLst>
          </p:cNvPr>
          <p:cNvSpPr>
            <a:spLocks xmlns:a="http://schemas.openxmlformats.org/drawingml/2006/main" noGrp="1"/>
          </p:cNvSpPr>
          <p:nvPr/>
        </p:nvSpPr>
        <p:spPr>
          <a:xfrm xmlns:a="http://schemas.openxmlformats.org/drawingml/2006/main">
            <a:off x="3619500" y="2000250"/>
            <a:ext cx="1809750" cy="1809750"/>
          </a:xfrm>
          <a:prstGeom xmlns:a="http://schemas.openxmlformats.org/drawingml/2006/main" prst="ellipse">
            <a:avLst/>
          </a:prstGeom>
          <a:solidFill xmlns:a="http://schemas.openxmlformats.org/drawingml/2006/main">
            <a:srgbClr val="174C68"/>
          </a:solidFill>
          <a:ln xmlns:a="http://schemas.openxmlformats.org/drawingml/2006/main" w="9525">
            <a:solidFill>
              <a:srgbClr val="4DD8C7"/>
            </a:solidFill>
            <a:prstDash val="solid"/>
          </a:ln>
        </p:spPr>
      </p:sp>
      <p:sp>
        <p:nvSpPr>
          <p:cNvPr id="6" name="">
            <a:extLst xmlns:a="http://schemas.openxmlformats.org/drawingml/2006/main">
              <a:ext uri="{FF2B5EF4-FFF2-40B4-BE49-F238E27FC236}">
                <a16:creationId xmlns:a16="http://schemas.microsoft.com/office/drawing/2014/main" id="{3E3B177C-D511-4275-B2B8-C6877EAF4B13}"/>
              </a:ext>
            </a:extLst>
          </p:cNvPr>
          <p:cNvSpPr>
            <a:spLocks xmlns:a="http://schemas.openxmlformats.org/drawingml/2006/main" noGrp="1"/>
          </p:cNvSpPr>
          <p:nvPr/>
        </p:nvSpPr>
        <p:spPr>
          <a:xfrm xmlns:a="http://schemas.openxmlformats.org/drawingml/2006/main">
            <a:off x="6000750" y="2000250"/>
            <a:ext cx="1809750" cy="1809750"/>
          </a:xfrm>
          <a:prstGeom xmlns:a="http://schemas.openxmlformats.org/drawingml/2006/main" prst="ellipse">
            <a:avLst/>
          </a:prstGeom>
          <a:solidFill xmlns:a="http://schemas.openxmlformats.org/drawingml/2006/main">
            <a:srgbClr val="146B70"/>
          </a:solidFill>
          <a:ln xmlns:a="http://schemas.openxmlformats.org/drawingml/2006/main" w="9525">
            <a:solidFill>
              <a:srgbClr val="4DD8C7"/>
            </a:solidFill>
            <a:prstDash val="solid"/>
          </a:ln>
        </p:spPr>
      </p:sp>
      <p:sp>
        <p:nvSpPr>
          <p:cNvPr id="7" name="">
            <a:extLst xmlns:a="http://schemas.openxmlformats.org/drawingml/2006/main">
              <a:ext uri="{FF2B5EF4-FFF2-40B4-BE49-F238E27FC236}">
                <a16:creationId xmlns:a16="http://schemas.microsoft.com/office/drawing/2014/main" id="{C8DCA0BF-F4B0-4519-8E21-AE95C8C4B156}"/>
              </a:ext>
            </a:extLst>
          </p:cNvPr>
          <p:cNvSpPr>
            <a:spLocks xmlns:a="http://schemas.openxmlformats.org/drawingml/2006/main" noGrp="1"/>
          </p:cNvSpPr>
          <p:nvPr/>
        </p:nvSpPr>
        <p:spPr>
          <a:xfrm xmlns:a="http://schemas.openxmlformats.org/drawingml/2006/main">
            <a:off x="147637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6D5432A2-E3BA-4FBF-A342-B0BDB47E8193}"/>
              </a:ext>
            </a:extLst>
          </p:cNvPr>
          <p:cNvSpPr>
            <a:spLocks xmlns:a="http://schemas.openxmlformats.org/drawingml/2006/main" noGrp="1"/>
          </p:cNvSpPr>
          <p:nvPr/>
        </p:nvSpPr>
        <p:spPr>
          <a:xfrm xmlns:a="http://schemas.openxmlformats.org/drawingml/2006/main">
            <a:off x="147637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Read inbox</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current state</a:t>
            </a:r>
          </a:p>
        </p:txBody>
      </p:sp>
      <p:sp>
        <p:nvSpPr>
          <p:cNvPr id="9" name="">
            <a:extLst xmlns:a="http://schemas.openxmlformats.org/drawingml/2006/main">
              <a:ext uri="{FF2B5EF4-FFF2-40B4-BE49-F238E27FC236}">
                <a16:creationId xmlns:a16="http://schemas.microsoft.com/office/drawing/2014/main" id="{9EF2B035-CBEF-4F6F-97BB-B19062399344}"/>
              </a:ext>
            </a:extLst>
          </p:cNvPr>
          <p:cNvSpPr>
            <a:spLocks xmlns:a="http://schemas.openxmlformats.org/drawingml/2006/main" noGrp="1"/>
          </p:cNvSpPr>
          <p:nvPr/>
        </p:nvSpPr>
        <p:spPr>
          <a:xfrm xmlns:a="http://schemas.openxmlformats.org/drawingml/2006/main">
            <a:off x="385762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REASON</a:t>
            </a:r>
          </a:p>
        </p:txBody>
      </p:sp>
      <p:sp>
        <p:nvSpPr>
          <p:cNvPr id="10" name="">
            <a:extLst xmlns:a="http://schemas.openxmlformats.org/drawingml/2006/main">
              <a:ext uri="{FF2B5EF4-FFF2-40B4-BE49-F238E27FC236}">
                <a16:creationId xmlns:a16="http://schemas.microsoft.com/office/drawing/2014/main" id="{C3832993-C5E7-43C2-B165-141F2583B8E1}"/>
              </a:ext>
            </a:extLst>
          </p:cNvPr>
          <p:cNvSpPr>
            <a:spLocks xmlns:a="http://schemas.openxmlformats.org/drawingml/2006/main" noGrp="1"/>
          </p:cNvSpPr>
          <p:nvPr/>
        </p:nvSpPr>
        <p:spPr>
          <a:xfrm xmlns:a="http://schemas.openxmlformats.org/drawingml/2006/main">
            <a:off x="385762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1091"/>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Choose tools</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resolve updates</a:t>
            </a:r>
          </a:p>
        </p:txBody>
      </p:sp>
      <p:sp>
        <p:nvSpPr>
          <p:cNvPr id="11" name="">
            <a:extLst xmlns:a="http://schemas.openxmlformats.org/drawingml/2006/main">
              <a:ext uri="{FF2B5EF4-FFF2-40B4-BE49-F238E27FC236}">
                <a16:creationId xmlns:a16="http://schemas.microsoft.com/office/drawing/2014/main" id="{7578AA51-D766-43AF-9DC4-FC1649F0FC93}"/>
              </a:ext>
            </a:extLst>
          </p:cNvPr>
          <p:cNvSpPr>
            <a:spLocks xmlns:a="http://schemas.openxmlformats.org/drawingml/2006/main" noGrp="1"/>
          </p:cNvSpPr>
          <p:nvPr/>
        </p:nvSpPr>
        <p:spPr>
          <a:xfrm xmlns:a="http://schemas.openxmlformats.org/drawingml/2006/main">
            <a:off x="623887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ACT</a:t>
            </a:r>
          </a:p>
        </p:txBody>
      </p:sp>
      <p:sp>
        <p:nvSpPr>
          <p:cNvPr id="12" name="">
            <a:extLst xmlns:a="http://schemas.openxmlformats.org/drawingml/2006/main">
              <a:ext uri="{FF2B5EF4-FFF2-40B4-BE49-F238E27FC236}">
                <a16:creationId xmlns:a16="http://schemas.microsoft.com/office/drawing/2014/main" id="{58CB52A7-69DA-4A35-A698-3748CB31FAC9}"/>
              </a:ext>
            </a:extLst>
          </p:cNvPr>
          <p:cNvSpPr>
            <a:spLocks xmlns:a="http://schemas.openxmlformats.org/drawingml/2006/main" noGrp="1"/>
          </p:cNvSpPr>
          <p:nvPr/>
        </p:nvSpPr>
        <p:spPr>
          <a:xfrm xmlns:a="http://schemas.openxmlformats.org/drawingml/2006/main">
            <a:off x="623887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7756"/>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Prepare plan</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stop for review</a:t>
            </a:r>
          </a:p>
        </p:txBody>
      </p:sp>
      <p:sp>
        <p:nvSpPr>
          <p:cNvPr id="13" name="">
            <a:extLst xmlns:a="http://schemas.openxmlformats.org/drawingml/2006/main">
              <a:ext uri="{FF2B5EF4-FFF2-40B4-BE49-F238E27FC236}">
                <a16:creationId xmlns:a16="http://schemas.microsoft.com/office/drawing/2014/main" id="{74AE8D6B-E8A3-4417-9E56-D6BC3BC3F812}"/>
              </a:ext>
            </a:extLst>
          </p:cNvPr>
          <p:cNvSpPr>
            <a:spLocks xmlns:a="http://schemas.openxmlformats.org/drawingml/2006/main" noGrp="1"/>
          </p:cNvSpPr>
          <p:nvPr/>
        </p:nvSpPr>
        <p:spPr>
          <a:xfrm xmlns:a="http://schemas.openxmlformats.org/drawingml/2006/main">
            <a:off x="3143250" y="2647950"/>
            <a:ext cx="38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D4104042-2122-4A06-80BB-D1A4696B45AC}"/>
              </a:ext>
            </a:extLst>
          </p:cNvPr>
          <p:cNvSpPr>
            <a:spLocks xmlns:a="http://schemas.openxmlformats.org/drawingml/2006/main" noGrp="1"/>
          </p:cNvSpPr>
          <p:nvPr/>
        </p:nvSpPr>
        <p:spPr>
          <a:xfrm xmlns:a="http://schemas.openxmlformats.org/drawingml/2006/main">
            <a:off x="5524500" y="2647950"/>
            <a:ext cx="38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80A2F86-633F-4E12-A2B7-02DC8398C9DE}"/>
              </a:ext>
            </a:extLst>
          </p:cNvPr>
          <p:cNvSpPr>
            <a:spLocks xmlns:a="http://schemas.openxmlformats.org/drawingml/2006/main" noGrp="1"/>
          </p:cNvSpPr>
          <p:nvPr/>
        </p:nvSpPr>
        <p:spPr>
          <a:xfrm xmlns:a="http://schemas.openxmlformats.org/drawingml/2006/main">
            <a:off x="8572500" y="1809750"/>
            <a:ext cx="2905125" cy="3143250"/>
          </a:xfrm>
          <a:prstGeom xmlns:a="http://schemas.openxmlformats.org/drawingml/2006/main" prst="roundRect">
            <a:avLst>
              <a:gd name="adj" fmla="val 6557"/>
            </a:avLst>
          </a:prstGeom>
          <a:solidFill xmlns:a="http://schemas.openxmlformats.org/drawingml/2006/main">
            <a:srgbClr val="F7FBF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81DC35E-310C-42ED-9E59-8F4A06BA459E}"/>
              </a:ext>
            </a:extLst>
          </p:cNvPr>
          <p:cNvSpPr>
            <a:spLocks xmlns:a="http://schemas.openxmlformats.org/drawingml/2006/main" noGrp="1"/>
          </p:cNvSpPr>
          <p:nvPr/>
        </p:nvSpPr>
        <p:spPr>
          <a:xfrm xmlns:a="http://schemas.openxmlformats.org/drawingml/2006/main">
            <a:off x="8896350" y="21145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a:solidFill>
                  <a:srgbClr val="132B45"/>
                </a:solidFill>
                <a:latin typeface="Arial"/>
                <a:ea typeface="Arial"/>
                <a:cs typeface="Arial"/>
              </a:defRPr>
            </a:pPr>
            <a:r>
              <a:rPr sz="1575" b="1">
                <a:solidFill>
                  <a:srgbClr val="132B45"/>
                </a:solidFill>
                <a:latin typeface="Arial"/>
                <a:ea typeface="Arial"/>
                <a:cs typeface="Arial"/>
              </a:rPr>
              <a:t>Five working tools</a:t>
            </a:r>
          </a:p>
        </p:txBody>
      </p:sp>
      <p:sp>
        <p:nvSpPr>
          <p:cNvPr id="17" name="">
            <a:extLst xmlns:a="http://schemas.openxmlformats.org/drawingml/2006/main">
              <a:ext uri="{FF2B5EF4-FFF2-40B4-BE49-F238E27FC236}">
                <a16:creationId xmlns:a16="http://schemas.microsoft.com/office/drawing/2014/main" id="{19892C72-DB60-4BB5-A3F9-00F586DE5D99}"/>
              </a:ext>
            </a:extLst>
          </p:cNvPr>
          <p:cNvSpPr>
            <a:spLocks xmlns:a="http://schemas.openxmlformats.org/drawingml/2006/main" noGrp="1"/>
          </p:cNvSpPr>
          <p:nvPr/>
        </p:nvSpPr>
        <p:spPr>
          <a:xfrm xmlns:a="http://schemas.openxmlformats.org/drawingml/2006/main">
            <a:off x="8905875" y="2667000"/>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920121A-6036-4340-AB6C-247D3CE758E5}"/>
              </a:ext>
            </a:extLst>
          </p:cNvPr>
          <p:cNvSpPr>
            <a:spLocks xmlns:a="http://schemas.openxmlformats.org/drawingml/2006/main" noGrp="1"/>
          </p:cNvSpPr>
          <p:nvPr/>
        </p:nvSpPr>
        <p:spPr>
          <a:xfrm xmlns:a="http://schemas.openxmlformats.org/drawingml/2006/main">
            <a:off x="8905875" y="267652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0581B861-B8F9-4142-974D-814AB90C0426}"/>
              </a:ext>
            </a:extLst>
          </p:cNvPr>
          <p:cNvSpPr>
            <a:spLocks xmlns:a="http://schemas.openxmlformats.org/drawingml/2006/main" noGrp="1"/>
          </p:cNvSpPr>
          <p:nvPr/>
        </p:nvSpPr>
        <p:spPr>
          <a:xfrm xmlns:a="http://schemas.openxmlformats.org/drawingml/2006/main">
            <a:off x="9210675" y="264795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mailbox.fetch_new</a:t>
            </a:r>
          </a:p>
        </p:txBody>
      </p:sp>
      <p:sp>
        <p:nvSpPr>
          <p:cNvPr id="20" name="">
            <a:extLst xmlns:a="http://schemas.openxmlformats.org/drawingml/2006/main">
              <a:ext uri="{FF2B5EF4-FFF2-40B4-BE49-F238E27FC236}">
                <a16:creationId xmlns:a16="http://schemas.microsoft.com/office/drawing/2014/main" id="{4D6EE9A6-D9BC-4C9C-BE67-8CCC3077D836}"/>
              </a:ext>
            </a:extLst>
          </p:cNvPr>
          <p:cNvSpPr>
            <a:spLocks xmlns:a="http://schemas.openxmlformats.org/drawingml/2006/main" noGrp="1"/>
          </p:cNvSpPr>
          <p:nvPr/>
        </p:nvSpPr>
        <p:spPr>
          <a:xfrm xmlns:a="http://schemas.openxmlformats.org/drawingml/2006/main">
            <a:off x="9210675" y="281940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Read new messages</a:t>
            </a:r>
          </a:p>
        </p:txBody>
      </p:sp>
      <p:sp>
        <p:nvSpPr>
          <p:cNvPr id="21" name="">
            <a:extLst xmlns:a="http://schemas.openxmlformats.org/drawingml/2006/main">
              <a:ext uri="{FF2B5EF4-FFF2-40B4-BE49-F238E27FC236}">
                <a16:creationId xmlns:a16="http://schemas.microsoft.com/office/drawing/2014/main" id="{AA979CFC-7042-4F33-B4DA-EB21537DB151}"/>
              </a:ext>
            </a:extLst>
          </p:cNvPr>
          <p:cNvSpPr>
            <a:spLocks xmlns:a="http://schemas.openxmlformats.org/drawingml/2006/main" noGrp="1"/>
          </p:cNvSpPr>
          <p:nvPr/>
        </p:nvSpPr>
        <p:spPr>
          <a:xfrm xmlns:a="http://schemas.openxmlformats.org/drawingml/2006/main">
            <a:off x="8905875" y="3114675"/>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297BD65-A503-42D0-941B-627A4C9F2CF8}"/>
              </a:ext>
            </a:extLst>
          </p:cNvPr>
          <p:cNvSpPr>
            <a:spLocks xmlns:a="http://schemas.openxmlformats.org/drawingml/2006/main" noGrp="1"/>
          </p:cNvSpPr>
          <p:nvPr/>
        </p:nvSpPr>
        <p:spPr>
          <a:xfrm xmlns:a="http://schemas.openxmlformats.org/drawingml/2006/main">
            <a:off x="8905875" y="3124200"/>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2</a:t>
            </a:r>
          </a:p>
        </p:txBody>
      </p:sp>
      <p:sp>
        <p:nvSpPr>
          <p:cNvPr id="23" name="">
            <a:extLst xmlns:a="http://schemas.openxmlformats.org/drawingml/2006/main">
              <a:ext uri="{FF2B5EF4-FFF2-40B4-BE49-F238E27FC236}">
                <a16:creationId xmlns:a16="http://schemas.microsoft.com/office/drawing/2014/main" id="{D6E62BAB-2A39-4DF0-8F7E-790F506AE9A0}"/>
              </a:ext>
            </a:extLst>
          </p:cNvPr>
          <p:cNvSpPr>
            <a:spLocks xmlns:a="http://schemas.openxmlformats.org/drawingml/2006/main" noGrp="1"/>
          </p:cNvSpPr>
          <p:nvPr/>
        </p:nvSpPr>
        <p:spPr>
          <a:xfrm xmlns:a="http://schemas.openxmlformats.org/drawingml/2006/main">
            <a:off x="9210675" y="3095625"/>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scan_policy.classify</a:t>
            </a:r>
          </a:p>
        </p:txBody>
      </p:sp>
      <p:sp>
        <p:nvSpPr>
          <p:cNvPr id="24" name="">
            <a:extLst xmlns:a="http://schemas.openxmlformats.org/drawingml/2006/main">
              <a:ext uri="{FF2B5EF4-FFF2-40B4-BE49-F238E27FC236}">
                <a16:creationId xmlns:a16="http://schemas.microsoft.com/office/drawing/2014/main" id="{F2912C5F-9BAD-4C50-B491-EC1B3F63F847}"/>
              </a:ext>
            </a:extLst>
          </p:cNvPr>
          <p:cNvSpPr>
            <a:spLocks xmlns:a="http://schemas.openxmlformats.org/drawingml/2006/main" noGrp="1"/>
          </p:cNvSpPr>
          <p:nvPr/>
        </p:nvSpPr>
        <p:spPr>
          <a:xfrm xmlns:a="http://schemas.openxmlformats.org/drawingml/2006/main">
            <a:off x="9210675" y="3267075"/>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Filter course mail</a:t>
            </a:r>
          </a:p>
        </p:txBody>
      </p:sp>
      <p:sp>
        <p:nvSpPr>
          <p:cNvPr id="25" name="">
            <a:extLst xmlns:a="http://schemas.openxmlformats.org/drawingml/2006/main">
              <a:ext uri="{FF2B5EF4-FFF2-40B4-BE49-F238E27FC236}">
                <a16:creationId xmlns:a16="http://schemas.microsoft.com/office/drawing/2014/main" id="{F8C037C4-F70A-4772-B7BE-3D795477BDFD}"/>
              </a:ext>
            </a:extLst>
          </p:cNvPr>
          <p:cNvSpPr>
            <a:spLocks xmlns:a="http://schemas.openxmlformats.org/drawingml/2006/main" noGrp="1"/>
          </p:cNvSpPr>
          <p:nvPr/>
        </p:nvSpPr>
        <p:spPr>
          <a:xfrm xmlns:a="http://schemas.openxmlformats.org/drawingml/2006/main">
            <a:off x="8905875" y="3562350"/>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6BE8C59-34BE-408C-A251-B504DAB75F40}"/>
              </a:ext>
            </a:extLst>
          </p:cNvPr>
          <p:cNvSpPr>
            <a:spLocks xmlns:a="http://schemas.openxmlformats.org/drawingml/2006/main" noGrp="1"/>
          </p:cNvSpPr>
          <p:nvPr/>
        </p:nvSpPr>
        <p:spPr>
          <a:xfrm xmlns:a="http://schemas.openxmlformats.org/drawingml/2006/main">
            <a:off x="8905875" y="357187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3</a:t>
            </a:r>
          </a:p>
        </p:txBody>
      </p:sp>
      <p:sp>
        <p:nvSpPr>
          <p:cNvPr id="27" name="">
            <a:extLst xmlns:a="http://schemas.openxmlformats.org/drawingml/2006/main">
              <a:ext uri="{FF2B5EF4-FFF2-40B4-BE49-F238E27FC236}">
                <a16:creationId xmlns:a16="http://schemas.microsoft.com/office/drawing/2014/main" id="{3630A85A-6238-4611-852E-644D2E2E81B9}"/>
              </a:ext>
            </a:extLst>
          </p:cNvPr>
          <p:cNvSpPr>
            <a:spLocks xmlns:a="http://schemas.openxmlformats.org/drawingml/2006/main" noGrp="1"/>
          </p:cNvSpPr>
          <p:nvPr/>
        </p:nvSpPr>
        <p:spPr>
          <a:xfrm xmlns:a="http://schemas.openxmlformats.org/drawingml/2006/main">
            <a:off x="9210675" y="354330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extract</a:t>
            </a:r>
          </a:p>
        </p:txBody>
      </p:sp>
      <p:sp>
        <p:nvSpPr>
          <p:cNvPr id="28" name="">
            <a:extLst xmlns:a="http://schemas.openxmlformats.org/drawingml/2006/main">
              <a:ext uri="{FF2B5EF4-FFF2-40B4-BE49-F238E27FC236}">
                <a16:creationId xmlns:a16="http://schemas.microsoft.com/office/drawing/2014/main" id="{0AEFEAB0-0F21-4DE9-87D6-09B84CD82EFA}"/>
              </a:ext>
            </a:extLst>
          </p:cNvPr>
          <p:cNvSpPr>
            <a:spLocks xmlns:a="http://schemas.openxmlformats.org/drawingml/2006/main" noGrp="1"/>
          </p:cNvSpPr>
          <p:nvPr/>
        </p:nvSpPr>
        <p:spPr>
          <a:xfrm xmlns:a="http://schemas.openxmlformats.org/drawingml/2006/main">
            <a:off x="9210675" y="371475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Create structured JSON</a:t>
            </a:r>
          </a:p>
        </p:txBody>
      </p:sp>
      <p:sp>
        <p:nvSpPr>
          <p:cNvPr id="29" name="">
            <a:extLst xmlns:a="http://schemas.openxmlformats.org/drawingml/2006/main">
              <a:ext uri="{FF2B5EF4-FFF2-40B4-BE49-F238E27FC236}">
                <a16:creationId xmlns:a16="http://schemas.microsoft.com/office/drawing/2014/main" id="{6F28967F-C6AC-475A-9F3D-B8D6B362A723}"/>
              </a:ext>
            </a:extLst>
          </p:cNvPr>
          <p:cNvSpPr>
            <a:spLocks xmlns:a="http://schemas.openxmlformats.org/drawingml/2006/main" noGrp="1"/>
          </p:cNvSpPr>
          <p:nvPr/>
        </p:nvSpPr>
        <p:spPr>
          <a:xfrm xmlns:a="http://schemas.openxmlformats.org/drawingml/2006/main">
            <a:off x="8905875" y="4010025"/>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8360D387-961B-4617-BDB6-77C7FCABB14B}"/>
              </a:ext>
            </a:extLst>
          </p:cNvPr>
          <p:cNvSpPr>
            <a:spLocks xmlns:a="http://schemas.openxmlformats.org/drawingml/2006/main" noGrp="1"/>
          </p:cNvSpPr>
          <p:nvPr/>
        </p:nvSpPr>
        <p:spPr>
          <a:xfrm xmlns:a="http://schemas.openxmlformats.org/drawingml/2006/main">
            <a:off x="8905875" y="4019550"/>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4</a:t>
            </a:r>
          </a:p>
        </p:txBody>
      </p:sp>
      <p:sp>
        <p:nvSpPr>
          <p:cNvPr id="31" name="">
            <a:extLst xmlns:a="http://schemas.openxmlformats.org/drawingml/2006/main">
              <a:ext uri="{FF2B5EF4-FFF2-40B4-BE49-F238E27FC236}">
                <a16:creationId xmlns:a16="http://schemas.microsoft.com/office/drawing/2014/main" id="{39FF7863-F81A-4EA9-A4EA-53DFA6E4A226}"/>
              </a:ext>
            </a:extLst>
          </p:cNvPr>
          <p:cNvSpPr>
            <a:spLocks xmlns:a="http://schemas.openxmlformats.org/drawingml/2006/main" noGrp="1"/>
          </p:cNvSpPr>
          <p:nvPr/>
        </p:nvSpPr>
        <p:spPr>
          <a:xfrm xmlns:a="http://schemas.openxmlformats.org/drawingml/2006/main">
            <a:off x="9210675" y="3990975"/>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thread_matcher + merge</a:t>
            </a:r>
          </a:p>
        </p:txBody>
      </p:sp>
      <p:sp>
        <p:nvSpPr>
          <p:cNvPr id="32" name="">
            <a:extLst xmlns:a="http://schemas.openxmlformats.org/drawingml/2006/main">
              <a:ext uri="{FF2B5EF4-FFF2-40B4-BE49-F238E27FC236}">
                <a16:creationId xmlns:a16="http://schemas.microsoft.com/office/drawing/2014/main" id="{9EBE6BBB-ABB0-4E23-9934-D3C9A2C8C6EB}"/>
              </a:ext>
            </a:extLst>
          </p:cNvPr>
          <p:cNvSpPr>
            <a:spLocks xmlns:a="http://schemas.openxmlformats.org/drawingml/2006/main" noGrp="1"/>
          </p:cNvSpPr>
          <p:nvPr/>
        </p:nvSpPr>
        <p:spPr>
          <a:xfrm xmlns:a="http://schemas.openxmlformats.org/drawingml/2006/main">
            <a:off x="9210675" y="4162425"/>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Consolidate updates</a:t>
            </a:r>
          </a:p>
        </p:txBody>
      </p:sp>
      <p:sp>
        <p:nvSpPr>
          <p:cNvPr id="33" name="">
            <a:extLst xmlns:a="http://schemas.openxmlformats.org/drawingml/2006/main">
              <a:ext uri="{FF2B5EF4-FFF2-40B4-BE49-F238E27FC236}">
                <a16:creationId xmlns:a16="http://schemas.microsoft.com/office/drawing/2014/main" id="{F69E1710-A1DD-4EB5-92F0-D736A91E2057}"/>
              </a:ext>
            </a:extLst>
          </p:cNvPr>
          <p:cNvSpPr>
            <a:spLocks xmlns:a="http://schemas.openxmlformats.org/drawingml/2006/main" noGrp="1"/>
          </p:cNvSpPr>
          <p:nvPr/>
        </p:nvSpPr>
        <p:spPr>
          <a:xfrm xmlns:a="http://schemas.openxmlformats.org/drawingml/2006/main">
            <a:off x="8905875" y="4457700"/>
            <a:ext cx="180975" cy="180975"/>
          </a:xfrm>
          <a:prstGeom xmlns:a="http://schemas.openxmlformats.org/drawingml/2006/main" prst="ellipse">
            <a:avLst/>
          </a:prstGeom>
          <a:solidFill xmlns:a="http://schemas.openxmlformats.org/drawingml/2006/main">
            <a:srgbClr val="FF746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08C9055-6CCB-4187-A3F2-AA4BF7F4F2AF}"/>
              </a:ext>
            </a:extLst>
          </p:cNvPr>
          <p:cNvSpPr>
            <a:spLocks xmlns:a="http://schemas.openxmlformats.org/drawingml/2006/main" noGrp="1"/>
          </p:cNvSpPr>
          <p:nvPr/>
        </p:nvSpPr>
        <p:spPr>
          <a:xfrm xmlns:a="http://schemas.openxmlformats.org/drawingml/2006/main">
            <a:off x="8905875" y="446722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5</a:t>
            </a:r>
          </a:p>
        </p:txBody>
      </p:sp>
      <p:sp>
        <p:nvSpPr>
          <p:cNvPr id="35" name="">
            <a:extLst xmlns:a="http://schemas.openxmlformats.org/drawingml/2006/main">
              <a:ext uri="{FF2B5EF4-FFF2-40B4-BE49-F238E27FC236}">
                <a16:creationId xmlns:a16="http://schemas.microsoft.com/office/drawing/2014/main" id="{A73CE67F-6456-475A-8F4E-2DACD4AC65EB}"/>
              </a:ext>
            </a:extLst>
          </p:cNvPr>
          <p:cNvSpPr>
            <a:spLocks xmlns:a="http://schemas.openxmlformats.org/drawingml/2006/main" noGrp="1"/>
          </p:cNvSpPr>
          <p:nvPr/>
        </p:nvSpPr>
        <p:spPr>
          <a:xfrm xmlns:a="http://schemas.openxmlformats.org/drawingml/2006/main">
            <a:off x="9210675" y="443865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calendar.approval_gate</a:t>
            </a:r>
          </a:p>
        </p:txBody>
      </p:sp>
      <p:sp>
        <p:nvSpPr>
          <p:cNvPr id="36" name="">
            <a:extLst xmlns:a="http://schemas.openxmlformats.org/drawingml/2006/main">
              <a:ext uri="{FF2B5EF4-FFF2-40B4-BE49-F238E27FC236}">
                <a16:creationId xmlns:a16="http://schemas.microsoft.com/office/drawing/2014/main" id="{3804D119-9A6D-4378-9500-88CC460A7535}"/>
              </a:ext>
            </a:extLst>
          </p:cNvPr>
          <p:cNvSpPr>
            <a:spLocks xmlns:a="http://schemas.openxmlformats.org/drawingml/2006/main" noGrp="1"/>
          </p:cNvSpPr>
          <p:nvPr/>
        </p:nvSpPr>
        <p:spPr>
          <a:xfrm xmlns:a="http://schemas.openxmlformats.org/drawingml/2006/main">
            <a:off x="9210675" y="461010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Block unapproved writes</a:t>
            </a:r>
          </a:p>
        </p:txBody>
      </p:sp>
      <p:sp>
        <p:nvSpPr>
          <p:cNvPr id="37" name="">
            <a:extLst xmlns:a="http://schemas.openxmlformats.org/drawingml/2006/main">
              <a:ext uri="{FF2B5EF4-FFF2-40B4-BE49-F238E27FC236}">
                <a16:creationId xmlns:a16="http://schemas.microsoft.com/office/drawing/2014/main" id="{1A299C24-4B37-4434-95CD-B942D41E221F}"/>
              </a:ext>
            </a:extLst>
          </p:cNvPr>
          <p:cNvSpPr>
            <a:spLocks xmlns:a="http://schemas.openxmlformats.org/drawingml/2006/main" noGrp="1"/>
          </p:cNvSpPr>
          <p:nvPr/>
        </p:nvSpPr>
        <p:spPr>
          <a:xfrm xmlns:a="http://schemas.openxmlformats.org/drawingml/2006/main">
            <a:off x="1190625" y="49530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75" b="1">
                <a:solidFill>
                  <a:srgbClr val="FFFFFF"/>
                </a:solidFill>
                <a:latin typeface="Arial"/>
                <a:ea typeface="Arial"/>
                <a:cs typeface="Arial"/>
              </a:defRPr>
            </a:pPr>
            <a:r>
              <a:rPr sz="1275" b="1">
                <a:solidFill>
                  <a:srgbClr val="FFFFFF"/>
                </a:solidFill>
                <a:latin typeface="Arial"/>
                <a:ea typeface="Arial"/>
                <a:cs typeface="Arial"/>
              </a:rPr>
              <a:t>LLM: openai/gpt-5-mini through OpenRouter</a:t>
            </a:r>
          </a:p>
        </p:txBody>
      </p:sp>
      <p:sp>
        <p:nvSpPr>
          <p:cNvPr id="38" name="">
            <a:extLst xmlns:a="http://schemas.openxmlformats.org/drawingml/2006/main">
              <a:ext uri="{FF2B5EF4-FFF2-40B4-BE49-F238E27FC236}">
                <a16:creationId xmlns:a16="http://schemas.microsoft.com/office/drawing/2014/main" id="{E54747A6-5898-4189-8DFD-CBAE800BC0DC}"/>
              </a:ext>
            </a:extLst>
          </p:cNvPr>
          <p:cNvSpPr>
            <a:spLocks xmlns:a="http://schemas.openxmlformats.org/drawingml/2006/main" noGrp="1"/>
          </p:cNvSpPr>
          <p:nvPr/>
        </p:nvSpPr>
        <p:spPr>
          <a:xfrm xmlns:a="http://schemas.openxmlformats.org/drawingml/2006/main">
            <a:off x="1190625" y="5314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0">
                <a:solidFill>
                  <a:srgbClr val="BFD4E2"/>
                </a:solidFill>
                <a:latin typeface="Arial"/>
                <a:ea typeface="Arial"/>
                <a:cs typeface="Arial"/>
              </a:defRPr>
            </a:pPr>
            <a:r>
              <a:rPr sz="1125" b="0">
                <a:solidFill>
                  <a:srgbClr val="BFD4E2"/>
                </a:solidFill>
                <a:latin typeface="Arial"/>
                <a:ea typeface="Arial"/>
                <a:cs typeface="Arial"/>
              </a:rPr>
              <a:t>Deterministic rules still control date validation, urgency, deduplication and approval.</a:t>
            </a:r>
          </a:p>
        </p:txBody>
      </p:sp>
      <p:sp>
        <p:nvSpPr>
          <p:cNvPr id="39" name="">
            <a:extLst xmlns:a="http://schemas.openxmlformats.org/drawingml/2006/main">
              <a:ext uri="{FF2B5EF4-FFF2-40B4-BE49-F238E27FC236}">
                <a16:creationId xmlns:a16="http://schemas.microsoft.com/office/drawing/2014/main" id="{723414D9-6984-48B1-9A1F-2BF41529C7D8}"/>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AFC5D5"/>
                </a:solidFill>
                <a:latin typeface="Arial"/>
                <a:ea typeface="Arial"/>
                <a:cs typeface="Arial"/>
              </a:defRPr>
            </a:pPr>
            <a:r>
              <a:rPr sz="825" b="0">
                <a:solidFill>
                  <a:srgbClr val="AFC5D5"/>
                </a:solidFill>
                <a:latin typeface="Arial"/>
                <a:ea typeface="Arial"/>
                <a:cs typeface="Arial"/>
              </a:rPr>
              <a:t>PE6201 Course Project · AI Scroll</a:t>
            </a:r>
          </a:p>
        </p:txBody>
      </p:sp>
      <p:sp>
        <p:nvSpPr>
          <p:cNvPr id="40" name="">
            <a:extLst xmlns:a="http://schemas.openxmlformats.org/drawingml/2006/main">
              <a:ext uri="{FF2B5EF4-FFF2-40B4-BE49-F238E27FC236}">
                <a16:creationId xmlns:a16="http://schemas.microsoft.com/office/drawing/2014/main" id="{B966269F-9F5F-4C1A-B4D1-1177CF2B28D6}"/>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AFC5D5"/>
                </a:solidFill>
                <a:latin typeface="Arial"/>
                <a:ea typeface="Arial"/>
                <a:cs typeface="Arial"/>
              </a:defRPr>
            </a:pPr>
            <a:r>
              <a:rPr sz="825" b="1">
                <a:solidFill>
                  <a:srgbClr val="AFC5D5"/>
                </a:solidFill>
                <a:latin typeface="Arial"/>
                <a:ea typeface="Arial"/>
                <a:cs typeface="Arial"/>
              </a:rPr>
              <a:t>4</a:t>
            </a:r>
          </a:p>
        </p:txBody>
      </p:sp>
    </p:spTree>
    <p:extLst>
      <p:ext uri="{BB962C8B-B14F-4D97-AF65-F5344CB8AC3E}">
        <p14:creationId xmlns:p14="http://schemas.microsoft.com/office/powerpoint/2010/main" val="918840178"/>
      </p:ext>
    </p:extLst>
  </p:cSld>
</p:sld>
</file>

<file path=ppt/slides/slide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134FA2B-0386-4191-A53C-58F468DDEB4B}"/>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D619E528-63BE-4BD2-8BC9-3D6CBF8E24EF}"/>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Hybrid architecture: AI for language, rules for control</a:t>
            </a:r>
          </a:p>
        </p:txBody>
      </p:sp>
      <p:sp>
        <p:nvSpPr>
          <p:cNvPr id="3" name="">
            <a:extLst xmlns:a="http://schemas.openxmlformats.org/drawingml/2006/main">
              <a:ext uri="{FF2B5EF4-FFF2-40B4-BE49-F238E27FC236}">
                <a16:creationId xmlns:a16="http://schemas.microsoft.com/office/drawing/2014/main" id="{80EEE93E-C9E3-43F4-91E2-CD63C8E071E8}"/>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644B795-278E-4862-9D8A-FEE961D344F8}"/>
              </a:ext>
            </a:extLst>
          </p:cNvPr>
          <p:cNvSpPr>
            <a:spLocks xmlns:a="http://schemas.openxmlformats.org/drawingml/2006/main" noGrp="1"/>
          </p:cNvSpPr>
          <p:nvPr/>
        </p:nvSpPr>
        <p:spPr>
          <a:xfrm xmlns:a="http://schemas.openxmlformats.org/drawingml/2006/main">
            <a:off x="619125" y="1809750"/>
            <a:ext cx="5095875" cy="3381375"/>
          </a:xfrm>
          <a:prstGeom xmlns:a="http://schemas.openxmlformats.org/drawingml/2006/main" prst="roundRect">
            <a:avLst>
              <a:gd name="adj" fmla="val 6197"/>
            </a:avLst>
          </a:prstGeom>
          <a:solidFill xmlns:a="http://schemas.openxmlformats.org/drawingml/2006/main">
            <a:srgbClr val="EAF3FC"/>
          </a:solidFill>
          <a:ln xmlns:a="http://schemas.openxmlformats.org/drawingml/2006/main" w="9525">
            <a:solidFill>
              <a:srgbClr val="C9DDF2"/>
            </a:solidFill>
            <a:prstDash val="solid"/>
          </a:ln>
        </p:spPr>
      </p:sp>
      <p:sp>
        <p:nvSpPr>
          <p:cNvPr id="5" name="">
            <a:extLst xmlns:a="http://schemas.openxmlformats.org/drawingml/2006/main">
              <a:ext uri="{FF2B5EF4-FFF2-40B4-BE49-F238E27FC236}">
                <a16:creationId xmlns:a16="http://schemas.microsoft.com/office/drawing/2014/main" id="{4CAAD03A-821A-4386-BB8C-893C11B4EFAF}"/>
              </a:ext>
            </a:extLst>
          </p:cNvPr>
          <p:cNvSpPr>
            <a:spLocks xmlns:a="http://schemas.openxmlformats.org/drawingml/2006/main" noGrp="1"/>
          </p:cNvSpPr>
          <p:nvPr/>
        </p:nvSpPr>
        <p:spPr>
          <a:xfrm xmlns:a="http://schemas.openxmlformats.org/drawingml/2006/main">
            <a:off x="6477000" y="1809750"/>
            <a:ext cx="5095875" cy="3381375"/>
          </a:xfrm>
          <a:prstGeom xmlns:a="http://schemas.openxmlformats.org/drawingml/2006/main" prst="roundRect">
            <a:avLst>
              <a:gd name="adj" fmla="val 6197"/>
            </a:avLst>
          </a:prstGeom>
          <a:solidFill xmlns:a="http://schemas.openxmlformats.org/drawingml/2006/main">
            <a:srgbClr val="E8F7F3"/>
          </a:solidFill>
          <a:ln xmlns:a="http://schemas.openxmlformats.org/drawingml/2006/main" w="9525">
            <a:solidFill>
              <a:srgbClr val="C5E6DE"/>
            </a:solidFill>
            <a:prstDash val="solid"/>
          </a:ln>
        </p:spPr>
      </p:sp>
      <p:sp>
        <p:nvSpPr>
          <p:cNvPr id="6" name="">
            <a:extLst xmlns:a="http://schemas.openxmlformats.org/drawingml/2006/main">
              <a:ext uri="{FF2B5EF4-FFF2-40B4-BE49-F238E27FC236}">
                <a16:creationId xmlns:a16="http://schemas.microsoft.com/office/drawing/2014/main" id="{EFCE3383-6C1A-4368-9AFD-BAD719BFF9D8}"/>
              </a:ext>
            </a:extLst>
          </p:cNvPr>
          <p:cNvSpPr>
            <a:spLocks xmlns:a="http://schemas.openxmlformats.org/drawingml/2006/main" noGrp="1"/>
          </p:cNvSpPr>
          <p:nvPr/>
        </p:nvSpPr>
        <p:spPr>
          <a:xfrm xmlns:a="http://schemas.openxmlformats.org/drawingml/2006/main">
            <a:off x="1000125" y="2152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025" b="1">
                <a:solidFill>
                  <a:srgbClr val="245B8F"/>
                </a:solidFill>
                <a:latin typeface="Arial"/>
                <a:ea typeface="Arial"/>
                <a:cs typeface="Arial"/>
              </a:defRPr>
            </a:pPr>
            <a:r>
              <a:rPr sz="2025" b="1">
                <a:solidFill>
                  <a:srgbClr val="245B8F"/>
                </a:solidFill>
                <a:latin typeface="Arial"/>
                <a:ea typeface="Arial"/>
                <a:cs typeface="Arial"/>
              </a:rPr>
              <a:t>Language model</a:t>
            </a:r>
          </a:p>
        </p:txBody>
      </p:sp>
      <p:sp>
        <p:nvSpPr>
          <p:cNvPr id="7" name="">
            <a:extLst xmlns:a="http://schemas.openxmlformats.org/drawingml/2006/main">
              <a:ext uri="{FF2B5EF4-FFF2-40B4-BE49-F238E27FC236}">
                <a16:creationId xmlns:a16="http://schemas.microsoft.com/office/drawing/2014/main" id="{7DA8C83A-8D2B-40FA-B9D7-646214EA4FF3}"/>
              </a:ext>
            </a:extLst>
          </p:cNvPr>
          <p:cNvSpPr>
            <a:spLocks xmlns:a="http://schemas.openxmlformats.org/drawingml/2006/main" noGrp="1"/>
          </p:cNvSpPr>
          <p:nvPr/>
        </p:nvSpPr>
        <p:spPr>
          <a:xfrm xmlns:a="http://schemas.openxmlformats.org/drawingml/2006/main">
            <a:off x="1000125" y="2552700"/>
            <a:ext cx="171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4F82B0"/>
                </a:solidFill>
                <a:latin typeface="Arial"/>
                <a:ea typeface="Arial"/>
                <a:cs typeface="Arial"/>
              </a:defRPr>
            </a:pPr>
            <a:r>
              <a:rPr sz="1050" b="1">
                <a:solidFill>
                  <a:srgbClr val="4F82B0"/>
                </a:solidFill>
                <a:latin typeface="Arial"/>
                <a:ea typeface="Arial"/>
                <a:cs typeface="Arial"/>
              </a:rPr>
              <a:t>Rented capability</a:t>
            </a:r>
          </a:p>
        </p:txBody>
      </p:sp>
      <p:sp>
        <p:nvSpPr>
          <p:cNvPr id="8" name="">
            <a:extLst xmlns:a="http://schemas.openxmlformats.org/drawingml/2006/main">
              <a:ext uri="{FF2B5EF4-FFF2-40B4-BE49-F238E27FC236}">
                <a16:creationId xmlns:a16="http://schemas.microsoft.com/office/drawing/2014/main" id="{D433CA70-0D24-42BB-BCB0-18C8EC49E77A}"/>
              </a:ext>
            </a:extLst>
          </p:cNvPr>
          <p:cNvSpPr>
            <a:spLocks xmlns:a="http://schemas.openxmlformats.org/drawingml/2006/main" noGrp="1"/>
          </p:cNvSpPr>
          <p:nvPr/>
        </p:nvSpPr>
        <p:spPr>
          <a:xfrm xmlns:a="http://schemas.openxmlformats.org/drawingml/2006/main">
            <a:off x="1000125" y="306705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Understands varied academic wording</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Extracts tasks and exact evidence</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Suggests whether a message updates an earlier task</a:t>
            </a:r>
          </a:p>
        </p:txBody>
      </p:sp>
      <p:sp>
        <p:nvSpPr>
          <p:cNvPr id="9" name="">
            <a:extLst xmlns:a="http://schemas.openxmlformats.org/drawingml/2006/main">
              <a:ext uri="{FF2B5EF4-FFF2-40B4-BE49-F238E27FC236}">
                <a16:creationId xmlns:a16="http://schemas.microsoft.com/office/drawing/2014/main" id="{903B1FA9-DEEA-453A-815C-BCD9CD133518}"/>
              </a:ext>
            </a:extLst>
          </p:cNvPr>
          <p:cNvSpPr>
            <a:spLocks xmlns:a="http://schemas.openxmlformats.org/drawingml/2006/main" noGrp="1"/>
          </p:cNvSpPr>
          <p:nvPr/>
        </p:nvSpPr>
        <p:spPr>
          <a:xfrm xmlns:a="http://schemas.openxmlformats.org/drawingml/2006/main">
            <a:off x="6858000" y="2152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025" b="1">
                <a:solidFill>
                  <a:srgbClr val="1C8C6B"/>
                </a:solidFill>
                <a:latin typeface="Arial"/>
                <a:ea typeface="Arial"/>
                <a:cs typeface="Arial"/>
              </a:defRPr>
            </a:pPr>
            <a:r>
              <a:rPr sz="2025" b="1">
                <a:solidFill>
                  <a:srgbClr val="1C8C6B"/>
                </a:solidFill>
                <a:latin typeface="Arial"/>
                <a:ea typeface="Arial"/>
                <a:cs typeface="Arial"/>
              </a:rPr>
              <a:t>Deterministic application</a:t>
            </a:r>
          </a:p>
        </p:txBody>
      </p:sp>
      <p:sp>
        <p:nvSpPr>
          <p:cNvPr id="10" name="">
            <a:extLst xmlns:a="http://schemas.openxmlformats.org/drawingml/2006/main">
              <a:ext uri="{FF2B5EF4-FFF2-40B4-BE49-F238E27FC236}">
                <a16:creationId xmlns:a16="http://schemas.microsoft.com/office/drawing/2014/main" id="{D060580C-8AD0-4E88-8B3E-4714B6C6D173}"/>
              </a:ext>
            </a:extLst>
          </p:cNvPr>
          <p:cNvSpPr>
            <a:spLocks xmlns:a="http://schemas.openxmlformats.org/drawingml/2006/main" noGrp="1"/>
          </p:cNvSpPr>
          <p:nvPr/>
        </p:nvSpPr>
        <p:spPr>
          <a:xfrm xmlns:a="http://schemas.openxmlformats.org/drawingml/2006/main">
            <a:off x="6858000" y="2552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3E8D75"/>
                </a:solidFill>
                <a:latin typeface="Arial"/>
                <a:ea typeface="Arial"/>
                <a:cs typeface="Arial"/>
              </a:defRPr>
            </a:pPr>
            <a:r>
              <a:rPr sz="1050" b="1">
                <a:solidFill>
                  <a:srgbClr val="3E8D75"/>
                </a:solidFill>
                <a:latin typeface="Arial"/>
                <a:ea typeface="Arial"/>
                <a:cs typeface="Arial"/>
              </a:rPr>
              <a:t>Built for this project</a:t>
            </a:r>
          </a:p>
        </p:txBody>
      </p:sp>
      <p:sp>
        <p:nvSpPr>
          <p:cNvPr id="11" name="">
            <a:extLst xmlns:a="http://schemas.openxmlformats.org/drawingml/2006/main">
              <a:ext uri="{FF2B5EF4-FFF2-40B4-BE49-F238E27FC236}">
                <a16:creationId xmlns:a16="http://schemas.microsoft.com/office/drawing/2014/main" id="{7CD08701-DAE4-4355-9990-AFAB9F73285B}"/>
              </a:ext>
            </a:extLst>
          </p:cNvPr>
          <p:cNvSpPr>
            <a:spLocks xmlns:a="http://schemas.openxmlformats.org/drawingml/2006/main" noGrp="1"/>
          </p:cNvSpPr>
          <p:nvPr/>
        </p:nvSpPr>
        <p:spPr>
          <a:xfrm xmlns:a="http://schemas.openxmlformats.org/drawingml/2006/main">
            <a:off x="6858000" y="306705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Validates dates and Singapore time</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Merges threads and preserves history</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Calculates urgency and enforces approval</a:t>
            </a:r>
          </a:p>
        </p:txBody>
      </p:sp>
      <p:sp>
        <p:nvSpPr>
          <p:cNvPr id="12" name="">
            <a:extLst xmlns:a="http://schemas.openxmlformats.org/drawingml/2006/main">
              <a:ext uri="{FF2B5EF4-FFF2-40B4-BE49-F238E27FC236}">
                <a16:creationId xmlns:a16="http://schemas.microsoft.com/office/drawing/2014/main" id="{B2A7B5BD-FDE0-4A7D-B4C7-85AF64DFB8F0}"/>
              </a:ext>
            </a:extLst>
          </p:cNvPr>
          <p:cNvSpPr>
            <a:spLocks xmlns:a="http://schemas.openxmlformats.org/drawingml/2006/main" noGrp="1"/>
          </p:cNvSpPr>
          <p:nvPr/>
        </p:nvSpPr>
        <p:spPr>
          <a:xfrm xmlns:a="http://schemas.openxmlformats.org/drawingml/2006/main">
            <a:off x="1143000" y="557212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1">
                <a:solidFill>
                  <a:srgbClr val="109B92"/>
                </a:solidFill>
                <a:latin typeface="Arial"/>
                <a:ea typeface="Arial"/>
                <a:cs typeface="Arial"/>
              </a:defRPr>
            </a:pPr>
            <a:r>
              <a:rPr sz="1200" b="1">
                <a:solidFill>
                  <a:srgbClr val="109B92"/>
                </a:solidFill>
                <a:latin typeface="Arial"/>
                <a:ea typeface="Arial"/>
                <a:cs typeface="Arial"/>
              </a:rPr>
              <a:t>Build</a:t>
            </a:r>
          </a:p>
        </p:txBody>
      </p:sp>
      <p:sp>
        <p:nvSpPr>
          <p:cNvPr id="13" name="">
            <a:extLst xmlns:a="http://schemas.openxmlformats.org/drawingml/2006/main">
              <a:ext uri="{FF2B5EF4-FFF2-40B4-BE49-F238E27FC236}">
                <a16:creationId xmlns:a16="http://schemas.microsoft.com/office/drawing/2014/main" id="{DEC00ADA-46B2-44BD-B588-5A031536207E}"/>
              </a:ext>
            </a:extLst>
          </p:cNvPr>
          <p:cNvSpPr>
            <a:spLocks xmlns:a="http://schemas.openxmlformats.org/drawingml/2006/main" noGrp="1"/>
          </p:cNvSpPr>
          <p:nvPr/>
        </p:nvSpPr>
        <p:spPr>
          <a:xfrm xmlns:a="http://schemas.openxmlformats.org/drawingml/2006/main">
            <a:off x="1885950" y="5572125"/>
            <a:ext cx="419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workflow · merge logic · evaluation · safety</a:t>
            </a:r>
          </a:p>
        </p:txBody>
      </p:sp>
      <p:sp>
        <p:nvSpPr>
          <p:cNvPr id="14" name="">
            <a:extLst xmlns:a="http://schemas.openxmlformats.org/drawingml/2006/main">
              <a:ext uri="{FF2B5EF4-FFF2-40B4-BE49-F238E27FC236}">
                <a16:creationId xmlns:a16="http://schemas.microsoft.com/office/drawing/2014/main" id="{863C794D-B753-4E7C-9473-776B87030AD1}"/>
              </a:ext>
            </a:extLst>
          </p:cNvPr>
          <p:cNvSpPr>
            <a:spLocks xmlns:a="http://schemas.openxmlformats.org/drawingml/2006/main" noGrp="1"/>
          </p:cNvSpPr>
          <p:nvPr/>
        </p:nvSpPr>
        <p:spPr>
          <a:xfrm xmlns:a="http://schemas.openxmlformats.org/drawingml/2006/main">
            <a:off x="6667500" y="557212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1">
                <a:solidFill>
                  <a:srgbClr val="4A90E2"/>
                </a:solidFill>
                <a:latin typeface="Arial"/>
                <a:ea typeface="Arial"/>
                <a:cs typeface="Arial"/>
              </a:defRPr>
            </a:pPr>
            <a:r>
              <a:rPr sz="1200" b="1">
                <a:solidFill>
                  <a:srgbClr val="4A90E2"/>
                </a:solidFill>
                <a:latin typeface="Arial"/>
                <a:ea typeface="Arial"/>
                <a:cs typeface="Arial"/>
              </a:rPr>
              <a:t>Rent</a:t>
            </a:r>
          </a:p>
        </p:txBody>
      </p:sp>
      <p:sp>
        <p:nvSpPr>
          <p:cNvPr id="15" name="">
            <a:extLst xmlns:a="http://schemas.openxmlformats.org/drawingml/2006/main">
              <a:ext uri="{FF2B5EF4-FFF2-40B4-BE49-F238E27FC236}">
                <a16:creationId xmlns:a16="http://schemas.microsoft.com/office/drawing/2014/main" id="{D5B23A58-AC3F-4565-BB50-3C4A54A4C829}"/>
              </a:ext>
            </a:extLst>
          </p:cNvPr>
          <p:cNvSpPr>
            <a:spLocks xmlns:a="http://schemas.openxmlformats.org/drawingml/2006/main" noGrp="1"/>
          </p:cNvSpPr>
          <p:nvPr/>
        </p:nvSpPr>
        <p:spPr>
          <a:xfrm xmlns:a="http://schemas.openxmlformats.org/drawingml/2006/main">
            <a:off x="7391400" y="5572125"/>
            <a:ext cx="381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language model · mailbox API · calendar API</a:t>
            </a:r>
          </a:p>
        </p:txBody>
      </p:sp>
      <p:sp>
        <p:nvSpPr>
          <p:cNvPr id="16" name="">
            <a:extLst xmlns:a="http://schemas.openxmlformats.org/drawingml/2006/main">
              <a:ext uri="{FF2B5EF4-FFF2-40B4-BE49-F238E27FC236}">
                <a16:creationId xmlns:a16="http://schemas.microsoft.com/office/drawing/2014/main" id="{476229F9-0A61-40CD-AC10-25D1BF4633CE}"/>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xmlns:a="http://schemas.openxmlformats.org/drawingml/2006/main">
              <a:ext uri="{FF2B5EF4-FFF2-40B4-BE49-F238E27FC236}">
                <a16:creationId xmlns:a16="http://schemas.microsoft.com/office/drawing/2014/main" id="{19B68A92-0A26-4F37-9E2C-0BF0FFE20CB8}"/>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5</a:t>
            </a:r>
          </a:p>
        </p:txBody>
      </p:sp>
    </p:spTree>
    <p:extLst>
      <p:ext uri="{BB962C8B-B14F-4D97-AF65-F5344CB8AC3E}">
        <p14:creationId xmlns:p14="http://schemas.microsoft.com/office/powerpoint/2010/main" val="191307326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D30BF4-E8A7-4770-8019-0AB6C8847153}"/>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8081AEA0-9DD4-4D88-BA2D-73B61BB17C87}"/>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Final product experience</a:t>
            </a:r>
          </a:p>
        </p:txBody>
      </p:sp>
      <p:sp>
        <p:nvSpPr>
          <p:cNvPr id="3" name="">
            <a:extLst xmlns:a="http://schemas.openxmlformats.org/drawingml/2006/main">
              <a:ext uri="{FF2B5EF4-FFF2-40B4-BE49-F238E27FC236}">
                <a16:creationId xmlns:a16="http://schemas.microsoft.com/office/drawing/2014/main" id="{2E398F8D-1A64-465E-A545-4BCE70B222C6}"/>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0fe31b6c2e24c56"/>
          <a:stretch xmlns:a="http://schemas.openxmlformats.org/drawingml/2006/main"/>
        </p:blipFill>
        <p:spPr>
          <a:xfrm xmlns:a="http://schemas.openxmlformats.org/drawingml/2006/main">
            <a:off x="1924151" y="1571625"/>
            <a:ext cx="8343698" cy="4695825"/>
          </a:xfrm>
          <a:prstGeom xmlns:a="http://schemas.openxmlformats.org/drawingml/2006/main" prst="roundRect">
            <a:avLst>
              <a:gd name="adj" fmla="val 3245"/>
            </a:avLst>
          </a:prstGeom>
        </p:spPr>
      </p:pic>
      <p:sp>
        <p:nvSpPr>
          <p:cNvPr id="5" name="">
            <a:extLst xmlns:a="http://schemas.openxmlformats.org/drawingml/2006/main">
              <a:ext uri="{FF2B5EF4-FFF2-40B4-BE49-F238E27FC236}">
                <a16:creationId xmlns:a16="http://schemas.microsoft.com/office/drawing/2014/main" id="{B911CFB4-34F5-4B5D-B6AC-A949EF154609}"/>
              </a:ext>
            </a:extLst>
          </p:cNvPr>
          <p:cNvSpPr>
            <a:spLocks xmlns:a="http://schemas.openxmlformats.org/drawingml/2006/main" noGrp="1"/>
          </p:cNvSpPr>
          <p:nvPr/>
        </p:nvSpPr>
        <p:spPr>
          <a:xfrm xmlns:a="http://schemas.openxmlformats.org/drawingml/2006/main">
            <a:off x="714375" y="1666875"/>
            <a:ext cx="2619375" cy="428625"/>
          </a:xfrm>
          <a:prstGeom xmlns:a="http://schemas.openxmlformats.org/drawingml/2006/main" prst="roundRect">
            <a:avLst>
              <a:gd name="adj" fmla="val 26667"/>
            </a:avLst>
          </a:prstGeom>
          <a:solidFill xmlns:a="http://schemas.openxmlformats.org/drawingml/2006/main">
            <a:srgbClr val="09264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530455-FAF3-4DC3-AC82-2BD1C0374E0A}"/>
              </a:ext>
            </a:extLst>
          </p:cNvPr>
          <p:cNvSpPr>
            <a:spLocks xmlns:a="http://schemas.openxmlformats.org/drawingml/2006/main" noGrp="1"/>
          </p:cNvSpPr>
          <p:nvPr/>
        </p:nvSpPr>
        <p:spPr>
          <a:xfrm xmlns:a="http://schemas.openxmlformats.org/drawingml/2006/main">
            <a:off x="876300" y="178117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1 · Read the source email</a:t>
            </a:r>
          </a:p>
        </p:txBody>
      </p:sp>
      <p:sp>
        <p:nvSpPr>
          <p:cNvPr id="7" name="">
            <a:extLst xmlns:a="http://schemas.openxmlformats.org/drawingml/2006/main">
              <a:ext uri="{FF2B5EF4-FFF2-40B4-BE49-F238E27FC236}">
                <a16:creationId xmlns:a16="http://schemas.microsoft.com/office/drawing/2014/main" id="{8D5F7A7C-B3B5-4A44-B821-4EA7BFDE744A}"/>
              </a:ext>
            </a:extLst>
          </p:cNvPr>
          <p:cNvSpPr>
            <a:spLocks xmlns:a="http://schemas.openxmlformats.org/drawingml/2006/main" noGrp="1"/>
          </p:cNvSpPr>
          <p:nvPr/>
        </p:nvSpPr>
        <p:spPr>
          <a:xfrm xmlns:a="http://schemas.openxmlformats.org/drawingml/2006/main">
            <a:off x="8858250" y="1666875"/>
            <a:ext cx="2571750" cy="428625"/>
          </a:xfrm>
          <a:prstGeom xmlns:a="http://schemas.openxmlformats.org/drawingml/2006/main" prst="roundRect">
            <a:avLst>
              <a:gd name="adj" fmla="val 26667"/>
            </a:avLst>
          </a:prstGeom>
          <a:solidFill xmlns:a="http://schemas.openxmlformats.org/drawingml/2006/main">
            <a:srgbClr val="109B9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469CA3-A700-4378-9126-8FA89BC8E0E3}"/>
              </a:ext>
            </a:extLst>
          </p:cNvPr>
          <p:cNvSpPr>
            <a:spLocks xmlns:a="http://schemas.openxmlformats.org/drawingml/2006/main" noGrp="1"/>
          </p:cNvSpPr>
          <p:nvPr/>
        </p:nvSpPr>
        <p:spPr>
          <a:xfrm xmlns:a="http://schemas.openxmlformats.org/drawingml/2006/main">
            <a:off x="9001125" y="178117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2 · Review the action card</a:t>
            </a:r>
          </a:p>
        </p:txBody>
      </p:sp>
      <p:sp>
        <p:nvSpPr>
          <p:cNvPr id="9" name="">
            <a:extLst xmlns:a="http://schemas.openxmlformats.org/drawingml/2006/main">
              <a:ext uri="{FF2B5EF4-FFF2-40B4-BE49-F238E27FC236}">
                <a16:creationId xmlns:a16="http://schemas.microsoft.com/office/drawing/2014/main" id="{02BB6936-C086-441D-9DFB-27BAA6C19B18}"/>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0" name="">
            <a:extLst xmlns:a="http://schemas.openxmlformats.org/drawingml/2006/main">
              <a:ext uri="{FF2B5EF4-FFF2-40B4-BE49-F238E27FC236}">
                <a16:creationId xmlns:a16="http://schemas.microsoft.com/office/drawing/2014/main" id="{4C629C7D-CC70-4230-94BA-F160F61AC722}"/>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6</a:t>
            </a:r>
          </a:p>
        </p:txBody>
      </p:sp>
    </p:spTree>
    <p:extLst>
      <p:ext uri="{BB962C8B-B14F-4D97-AF65-F5344CB8AC3E}">
        <p14:creationId xmlns:p14="http://schemas.microsoft.com/office/powerpoint/2010/main" val="1944158573"/>
      </p:ext>
    </p:extLst>
  </p:cSld>
</p:sld>
</file>

<file path=ppt/slides/slide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82F6F5C-27C2-4630-AAAC-D0B8F3E8B588}"/>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07</a:t>
            </a:r>
          </a:p>
        </p:txBody>
      </p:sp>
      <p:sp>
        <p:nvSpPr>
          <p:cNvPr id="2" name="">
            <a:extLst xmlns:a="http://schemas.openxmlformats.org/drawingml/2006/main">
              <a:ext uri="{FF2B5EF4-FFF2-40B4-BE49-F238E27FC236}">
                <a16:creationId xmlns:a16="http://schemas.microsoft.com/office/drawing/2014/main" id="{59C2D077-661C-41D5-AA49-8A3903125364}"/>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Current evidence and next steps</a:t>
            </a:r>
          </a:p>
        </p:txBody>
      </p:sp>
      <p:sp>
        <p:nvSpPr>
          <p:cNvPr id="3" name="">
            <a:extLst xmlns:a="http://schemas.openxmlformats.org/drawingml/2006/main">
              <a:ext uri="{FF2B5EF4-FFF2-40B4-BE49-F238E27FC236}">
                <a16:creationId xmlns:a16="http://schemas.microsoft.com/office/drawing/2014/main" id="{E31B4F66-1802-4566-8754-018E51861590}"/>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graphicFrame>
        <p:nvGraphicFramePr>
          <p:cNvPr id="21" name="Chart"/>
          <p:cNvGraphicFramePr/>
          <p:nvPr/>
        </p:nvGraphicFramePr>
        <p:xfrm>
          <a:off xmlns:a="http://schemas.openxmlformats.org/drawingml/2006/main" x="523875" y="1714500"/>
          <a:ext xmlns:a="http://schemas.openxmlformats.org/drawingml/2006/main" cx="7239000" cy="3905250"/>
        </p:xfrm>
        <a:graphic xmlns:a="http://schemas.openxmlformats.org/drawingml/2006/main">
          <a:graphicData uri="http://schemas.openxmlformats.org/drawingml/2006/chart">
            <c:chart xmlns:r="http://schemas.openxmlformats.org/officeDocument/2006/relationships" xmlns:c="http://schemas.openxmlformats.org/drawingml/2006/chart" r:id="Ra21082a75c6943b9"/>
          </a:graphicData>
        </a:graphic>
      </p:graphicFrame>
      <p:sp>
        <p:nvSpPr>
          <p:cNvPr id="5" name="">
            <a:extLst xmlns:a="http://schemas.openxmlformats.org/drawingml/2006/main">
              <a:ext uri="{FF2B5EF4-FFF2-40B4-BE49-F238E27FC236}">
                <a16:creationId xmlns:a16="http://schemas.microsoft.com/office/drawing/2014/main" id="{1635035F-FE72-4AB9-BD71-7A965421A99E}"/>
              </a:ext>
            </a:extLst>
          </p:cNvPr>
          <p:cNvSpPr>
            <a:spLocks xmlns:a="http://schemas.openxmlformats.org/drawingml/2006/main" noGrp="1"/>
          </p:cNvSpPr>
          <p:nvPr/>
        </p:nvSpPr>
        <p:spPr>
          <a:xfrm xmlns:a="http://schemas.openxmlformats.org/drawingml/2006/main">
            <a:off x="8143875" y="1809750"/>
            <a:ext cx="3238500" cy="895350"/>
          </a:xfrm>
          <a:prstGeom xmlns:a="http://schemas.openxmlformats.org/drawingml/2006/main" prst="roundRect">
            <a:avLst>
              <a:gd name="adj" fmla="val 17021"/>
            </a:avLst>
          </a:prstGeom>
          <a:solidFill xmlns:a="http://schemas.openxmlformats.org/drawingml/2006/main">
            <a:srgbClr val="FFFFFF"/>
          </a:solidFill>
          <a:ln xmlns:a="http://schemas.openxmlformats.org/drawingml/2006/main" w="9525">
            <a:solidFill>
              <a:srgbClr val="DCE6EE"/>
            </a:solidFill>
            <a:prstDash val="solid"/>
          </a:ln>
        </p:spPr>
      </p:sp>
      <p:sp>
        <p:nvSpPr>
          <p:cNvPr id="6" name="">
            <a:extLst xmlns:a="http://schemas.openxmlformats.org/drawingml/2006/main">
              <a:ext uri="{FF2B5EF4-FFF2-40B4-BE49-F238E27FC236}">
                <a16:creationId xmlns:a16="http://schemas.microsoft.com/office/drawing/2014/main" id="{69E04583-0187-4634-9CC7-4C30B7E64038}"/>
              </a:ext>
            </a:extLst>
          </p:cNvPr>
          <p:cNvSpPr>
            <a:spLocks xmlns:a="http://schemas.openxmlformats.org/drawingml/2006/main" noGrp="1"/>
          </p:cNvSpPr>
          <p:nvPr/>
        </p:nvSpPr>
        <p:spPr>
          <a:xfrm xmlns:a="http://schemas.openxmlformats.org/drawingml/2006/main">
            <a:off x="8401050" y="19431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6 / 6</a:t>
            </a:r>
          </a:p>
        </p:txBody>
      </p:sp>
      <p:sp>
        <p:nvSpPr>
          <p:cNvPr id="7" name="">
            <a:extLst xmlns:a="http://schemas.openxmlformats.org/drawingml/2006/main">
              <a:ext uri="{FF2B5EF4-FFF2-40B4-BE49-F238E27FC236}">
                <a16:creationId xmlns:a16="http://schemas.microsoft.com/office/drawing/2014/main" id="{56E7CEA4-2AD8-487A-934D-711A0EDD7239}"/>
              </a:ext>
            </a:extLst>
          </p:cNvPr>
          <p:cNvSpPr>
            <a:spLocks xmlns:a="http://schemas.openxmlformats.org/drawingml/2006/main" noGrp="1"/>
          </p:cNvSpPr>
          <p:nvPr/>
        </p:nvSpPr>
        <p:spPr>
          <a:xfrm xmlns:a="http://schemas.openxmlformats.org/drawingml/2006/main">
            <a:off x="8401050" y="23241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Live web-derived cases passed</a:t>
            </a:r>
          </a:p>
        </p:txBody>
      </p:sp>
      <p:sp>
        <p:nvSpPr>
          <p:cNvPr id="8" name="">
            <a:extLst xmlns:a="http://schemas.openxmlformats.org/drawingml/2006/main">
              <a:ext uri="{FF2B5EF4-FFF2-40B4-BE49-F238E27FC236}">
                <a16:creationId xmlns:a16="http://schemas.microsoft.com/office/drawing/2014/main" id="{21E40B8C-55AD-4D54-9707-AC23A3CE062E}"/>
              </a:ext>
            </a:extLst>
          </p:cNvPr>
          <p:cNvSpPr>
            <a:spLocks xmlns:a="http://schemas.openxmlformats.org/drawingml/2006/main" noGrp="1"/>
          </p:cNvSpPr>
          <p:nvPr/>
        </p:nvSpPr>
        <p:spPr>
          <a:xfrm xmlns:a="http://schemas.openxmlformats.org/drawingml/2006/main">
            <a:off x="8143875" y="2933700"/>
            <a:ext cx="3238500" cy="895350"/>
          </a:xfrm>
          <a:prstGeom xmlns:a="http://schemas.openxmlformats.org/drawingml/2006/main" prst="roundRect">
            <a:avLst>
              <a:gd name="adj" fmla="val 17021"/>
            </a:avLst>
          </a:prstGeom>
          <a:solidFill xmlns:a="http://schemas.openxmlformats.org/drawingml/2006/main">
            <a:srgbClr val="FFFFFF"/>
          </a:solidFill>
          <a:ln xmlns:a="http://schemas.openxmlformats.org/drawingml/2006/main" w="9525">
            <a:solidFill>
              <a:srgbClr val="DCE6EE"/>
            </a:solidFill>
            <a:prstDash val="solid"/>
          </a:ln>
        </p:spPr>
      </p:sp>
      <p:sp>
        <p:nvSpPr>
          <p:cNvPr id="9" name="">
            <a:extLst xmlns:a="http://schemas.openxmlformats.org/drawingml/2006/main">
              <a:ext uri="{FF2B5EF4-FFF2-40B4-BE49-F238E27FC236}">
                <a16:creationId xmlns:a16="http://schemas.microsoft.com/office/drawing/2014/main" id="{E07B8CDF-5197-495E-91A7-4584E6591B83}"/>
              </a:ext>
            </a:extLst>
          </p:cNvPr>
          <p:cNvSpPr>
            <a:spLocks xmlns:a="http://schemas.openxmlformats.org/drawingml/2006/main" noGrp="1"/>
          </p:cNvSpPr>
          <p:nvPr/>
        </p:nvSpPr>
        <p:spPr>
          <a:xfrm xmlns:a="http://schemas.openxmlformats.org/drawingml/2006/main">
            <a:off x="8401050" y="30670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47</a:t>
            </a:r>
          </a:p>
        </p:txBody>
      </p:sp>
      <p:sp>
        <p:nvSpPr>
          <p:cNvPr id="10" name="">
            <a:extLst xmlns:a="http://schemas.openxmlformats.org/drawingml/2006/main">
              <a:ext uri="{FF2B5EF4-FFF2-40B4-BE49-F238E27FC236}">
                <a16:creationId xmlns:a16="http://schemas.microsoft.com/office/drawing/2014/main" id="{34FD6730-7A65-46A2-8895-4E93FF277388}"/>
              </a:ext>
            </a:extLst>
          </p:cNvPr>
          <p:cNvSpPr>
            <a:spLocks xmlns:a="http://schemas.openxmlformats.org/drawingml/2006/main" noGrp="1"/>
          </p:cNvSpPr>
          <p:nvPr/>
        </p:nvSpPr>
        <p:spPr>
          <a:xfrm xmlns:a="http://schemas.openxmlformats.org/drawingml/2006/main">
            <a:off x="8401050" y="34480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Automated tests passed</a:t>
            </a:r>
          </a:p>
        </p:txBody>
      </p:sp>
      <p:sp>
        <p:nvSpPr>
          <p:cNvPr id="11" name="">
            <a:extLst xmlns:a="http://schemas.openxmlformats.org/drawingml/2006/main">
              <a:ext uri="{FF2B5EF4-FFF2-40B4-BE49-F238E27FC236}">
                <a16:creationId xmlns:a16="http://schemas.microsoft.com/office/drawing/2014/main" id="{02DB2602-55A6-4802-A533-755FC02B0C2E}"/>
              </a:ext>
            </a:extLst>
          </p:cNvPr>
          <p:cNvSpPr>
            <a:spLocks xmlns:a="http://schemas.openxmlformats.org/drawingml/2006/main" noGrp="1"/>
          </p:cNvSpPr>
          <p:nvPr/>
        </p:nvSpPr>
        <p:spPr>
          <a:xfrm xmlns:a="http://schemas.openxmlformats.org/drawingml/2006/main">
            <a:off x="8143875" y="4057650"/>
            <a:ext cx="3238500" cy="895350"/>
          </a:xfrm>
          <a:prstGeom xmlns:a="http://schemas.openxmlformats.org/drawingml/2006/main" prst="roundRect">
            <a:avLst>
              <a:gd name="adj" fmla="val 17021"/>
            </a:avLst>
          </a:prstGeom>
          <a:solidFill xmlns:a="http://schemas.openxmlformats.org/drawingml/2006/main">
            <a:srgbClr val="092642"/>
          </a:solidFill>
          <a:ln xmlns:a="http://schemas.openxmlformats.org/drawingml/2006/main" w="9525">
            <a:solidFill>
              <a:srgbClr val="092642"/>
            </a:solidFill>
            <a:prstDash val="solid"/>
          </a:ln>
        </p:spPr>
      </p:sp>
      <p:sp>
        <p:nvSpPr>
          <p:cNvPr id="12" name="">
            <a:extLst xmlns:a="http://schemas.openxmlformats.org/drawingml/2006/main">
              <a:ext uri="{FF2B5EF4-FFF2-40B4-BE49-F238E27FC236}">
                <a16:creationId xmlns:a16="http://schemas.microsoft.com/office/drawing/2014/main" id="{D37A20E1-BE5A-468C-915D-3125E441DDCD}"/>
              </a:ext>
            </a:extLst>
          </p:cNvPr>
          <p:cNvSpPr>
            <a:spLocks xmlns:a="http://schemas.openxmlformats.org/drawingml/2006/main" noGrp="1"/>
          </p:cNvSpPr>
          <p:nvPr/>
        </p:nvSpPr>
        <p:spPr>
          <a:xfrm xmlns:a="http://schemas.openxmlformats.org/drawingml/2006/main">
            <a:off x="8401050" y="4191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55D8C8"/>
                </a:solidFill>
                <a:latin typeface="Arial"/>
                <a:ea typeface="Arial"/>
                <a:cs typeface="Arial"/>
              </a:defRPr>
            </a:pPr>
            <a:r>
              <a:rPr sz="2100" b="1">
                <a:solidFill>
                  <a:srgbClr val="55D8C8"/>
                </a:solidFill>
                <a:latin typeface="Arial"/>
                <a:ea typeface="Arial"/>
                <a:cs typeface="Arial"/>
              </a:rPr>
              <a:t>$0.01074</a:t>
            </a:r>
          </a:p>
        </p:txBody>
      </p:sp>
      <p:sp>
        <p:nvSpPr>
          <p:cNvPr id="13" name="">
            <a:extLst xmlns:a="http://schemas.openxmlformats.org/drawingml/2006/main">
              <a:ext uri="{FF2B5EF4-FFF2-40B4-BE49-F238E27FC236}">
                <a16:creationId xmlns:a16="http://schemas.microsoft.com/office/drawing/2014/main" id="{53024204-9B60-4584-8914-FC095F7199D8}"/>
              </a:ext>
            </a:extLst>
          </p:cNvPr>
          <p:cNvSpPr>
            <a:spLocks xmlns:a="http://schemas.openxmlformats.org/drawingml/2006/main" noGrp="1"/>
          </p:cNvSpPr>
          <p:nvPr/>
        </p:nvSpPr>
        <p:spPr>
          <a:xfrm xmlns:a="http://schemas.openxmlformats.org/drawingml/2006/main">
            <a:off x="8401050" y="45720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D5E7EF"/>
                </a:solidFill>
                <a:latin typeface="Arial"/>
                <a:ea typeface="Arial"/>
                <a:cs typeface="Arial"/>
              </a:defRPr>
            </a:pPr>
            <a:r>
              <a:rPr sz="975" b="0">
                <a:solidFill>
                  <a:srgbClr val="D5E7EF"/>
                </a:solidFill>
                <a:latin typeface="Arial"/>
                <a:ea typeface="Arial"/>
                <a:cs typeface="Arial"/>
              </a:rPr>
              <a:t>Cost of the six-case live run</a:t>
            </a:r>
          </a:p>
        </p:txBody>
      </p:sp>
      <p:sp>
        <p:nvSpPr>
          <p:cNvPr id="14" name="">
            <a:extLst xmlns:a="http://schemas.openxmlformats.org/drawingml/2006/main">
              <a:ext uri="{FF2B5EF4-FFF2-40B4-BE49-F238E27FC236}">
                <a16:creationId xmlns:a16="http://schemas.microsoft.com/office/drawing/2014/main" id="{2D77F0C6-D8EE-4BA6-9CAA-5BFAC293533F}"/>
              </a:ext>
            </a:extLst>
          </p:cNvPr>
          <p:cNvSpPr>
            <a:spLocks xmlns:a="http://schemas.openxmlformats.org/drawingml/2006/main" noGrp="1"/>
          </p:cNvSpPr>
          <p:nvPr/>
        </p:nvSpPr>
        <p:spPr>
          <a:xfrm xmlns:a="http://schemas.openxmlformats.org/drawingml/2006/main">
            <a:off x="8143875" y="5334000"/>
            <a:ext cx="323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75" b="1">
                <a:solidFill>
                  <a:srgbClr val="132B45"/>
                </a:solidFill>
                <a:latin typeface="Arial"/>
                <a:ea typeface="Arial"/>
                <a:cs typeface="Arial"/>
              </a:defRPr>
            </a:pPr>
            <a:r>
              <a:rPr sz="1275" b="1">
                <a:solidFill>
                  <a:srgbClr val="132B45"/>
                </a:solidFill>
                <a:latin typeface="Arial"/>
                <a:ea typeface="Arial"/>
                <a:cs typeface="Arial"/>
              </a:rPr>
              <a:t>Next: freeze the 50 human labels, run the final evaluation and record the live demo.</a:t>
            </a:r>
          </a:p>
        </p:txBody>
      </p:sp>
      <p:sp>
        <p:nvSpPr>
          <p:cNvPr id="15" name="">
            <a:extLst xmlns:a="http://schemas.openxmlformats.org/drawingml/2006/main">
              <a:ext uri="{FF2B5EF4-FFF2-40B4-BE49-F238E27FC236}">
                <a16:creationId xmlns:a16="http://schemas.microsoft.com/office/drawing/2014/main" id="{9F7326A6-64F9-48D6-A845-F34291F9D057}"/>
              </a:ext>
            </a:extLst>
          </p:cNvPr>
          <p:cNvSpPr>
            <a:spLocks xmlns:a="http://schemas.openxmlformats.org/drawingml/2006/main" noGrp="1"/>
          </p:cNvSpPr>
          <p:nvPr/>
        </p:nvSpPr>
        <p:spPr>
          <a:xfrm xmlns:a="http://schemas.openxmlformats.org/drawingml/2006/main">
            <a:off x="571500" y="5905500"/>
            <a:ext cx="723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0">
                <a:solidFill>
                  <a:srgbClr val="66788D"/>
                </a:solidFill>
                <a:latin typeface="Arial"/>
                <a:ea typeface="Arial"/>
                <a:cs typeface="Arial"/>
              </a:defRPr>
            </a:pPr>
            <a:r>
              <a:rPr sz="900" b="0">
                <a:solidFill>
                  <a:srgbClr val="66788D"/>
                </a:solidFill>
                <a:latin typeface="Arial"/>
                <a:ea typeface="Arial"/>
                <a:cs typeface="Arial"/>
              </a:rPr>
              <a:t>Draft-label comparison shown on the left. Final assessment numbers require label review.</a:t>
            </a:r>
          </a:p>
        </p:txBody>
      </p:sp>
      <p:sp>
        <p:nvSpPr>
          <p:cNvPr id="16" name="">
            <a:extLst xmlns:a="http://schemas.openxmlformats.org/drawingml/2006/main">
              <a:ext uri="{FF2B5EF4-FFF2-40B4-BE49-F238E27FC236}">
                <a16:creationId xmlns:a16="http://schemas.microsoft.com/office/drawing/2014/main" id="{5E776875-7C59-4089-9043-51B4538E50D7}"/>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xmlns:a="http://schemas.openxmlformats.org/drawingml/2006/main">
              <a:ext uri="{FF2B5EF4-FFF2-40B4-BE49-F238E27FC236}">
                <a16:creationId xmlns:a16="http://schemas.microsoft.com/office/drawing/2014/main" id="{FCC8A681-1DD8-45C0-A349-DFE28EF387BB}"/>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7</a:t>
            </a:r>
          </a:p>
        </p:txBody>
      </p:sp>
    </p:spTree>
    <p:extLst>
      <p:ext uri="{BB962C8B-B14F-4D97-AF65-F5344CB8AC3E}">
        <p14:creationId xmlns:p14="http://schemas.microsoft.com/office/powerpoint/2010/main" val="44590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2026-10-03T16:20:34.6740000Z</dcterms:created>
  <dcterms:modified xsi:type="dcterms:W3CDTF">2026-10-03T16:20:34.6740000Z</dcterms:modified>
</coreProperties>
</file>